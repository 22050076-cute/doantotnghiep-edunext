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2" r:id="rId9"/>
    <p:sldId id="263" r:id="rId10"/>
    <p:sldId id="264" r:id="rId11"/>
    <p:sldId id="265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38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295A4-2397-EB99-1568-383A77E7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58B47-7B5A-ABB5-0B95-7F1FAF8E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23A6C-CBD6-020C-9DA9-030186686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C3888-4DAF-72CD-278D-D4003CA86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A5B1-BCE4-49F3-DFE5-6A3EDDA50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40D7C-C826-B23E-8FF7-E2BFD326A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AACD2-4826-9E30-38B8-E7E1B03EE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EA6EF-818E-09E1-B027-2752AD642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76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4DAD-A3A3-E63E-81D9-1AD48E29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35032-DEC7-6D10-4276-8843872D0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C0CE0-EF6A-ECCA-B026-FF42F8BC8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54F7F-0A65-A0DE-F50F-1AA4B8528C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6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52550"/>
            <a:ext cx="8869680" cy="224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XÂY DỰNG </a:t>
            </a:r>
            <a:r>
              <a:rPr lang="vi-VN" sz="445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HỆ THỐNG</a:t>
            </a:r>
            <a:r>
              <a:rPr lang="en-US" sz="445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 HỖ TRỢ CÔNG TÁC CHỦ NHIỆM</a:t>
            </a:r>
            <a:r>
              <a:rPr lang="vi-VN" sz="445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 TẠI</a:t>
            </a:r>
            <a:r>
              <a:rPr lang="en-US" sz="445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 TRƯỜNG THCS</a:t>
            </a:r>
            <a:endParaRPr lang="en-US" sz="4450" dirty="0">
              <a:latin typeface="Times  New Roman"/>
            </a:endParaRPr>
          </a:p>
        </p:txBody>
      </p:sp>
      <p:sp>
        <p:nvSpPr>
          <p:cNvPr id="4" name="Text 1"/>
          <p:cNvSpPr/>
          <p:nvPr/>
        </p:nvSpPr>
        <p:spPr>
          <a:xfrm>
            <a:off x="308967" y="507976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Sinh viên thực hiện:</a:t>
            </a: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 Hạ Văn Minh - 22050076</a:t>
            </a:r>
            <a:endParaRPr lang="en-US" dirty="0">
              <a:latin typeface="Times  New Roman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8967" y="441677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Giảng viên hướng dẫn:</a:t>
            </a: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 Th.S Dương Anh Tuấn</a:t>
            </a:r>
            <a:endParaRPr lang="en-US" dirty="0">
              <a:latin typeface="Times 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390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Lý do chọn đề tài</a:t>
            </a:r>
            <a:endParaRPr lang="en-US" sz="4800" dirty="0">
              <a:latin typeface="Times 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2085023"/>
            <a:ext cx="6448544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4" y="2309217"/>
            <a:ext cx="649962" cy="64996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17" y="2487930"/>
            <a:ext cx="292418" cy="292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2504" y="31757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Bối cảnh</a:t>
            </a:r>
            <a:endParaRPr lang="en-US" sz="2400" dirty="0">
              <a:latin typeface="Times  New Roman"/>
            </a:endParaRPr>
          </a:p>
        </p:txBody>
      </p:sp>
      <p:sp>
        <p:nvSpPr>
          <p:cNvPr id="7" name="Text 3"/>
          <p:cNvSpPr/>
          <p:nvPr/>
        </p:nvSpPr>
        <p:spPr>
          <a:xfrm>
            <a:off x="982504" y="3661886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Chuyển đổi số giáo dục yêu cầu sự thay đổi từ quản lý nghiệp vụ sang nền tảng số dùng chung.</a:t>
            </a:r>
            <a:endParaRPr lang="en-US" dirty="0">
              <a:latin typeface="Times  New Roman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423428" y="2085023"/>
            <a:ext cx="6448663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623" y="2309217"/>
            <a:ext cx="649962" cy="64996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6335" y="2487930"/>
            <a:ext cx="292418" cy="2924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7623" y="31757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Vai trò</a:t>
            </a:r>
            <a:endParaRPr lang="en-US" sz="2400" dirty="0">
              <a:latin typeface="Times  New Roman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647623" y="3661886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Giáo viên chủ nhiệm (GVCN) là hạt nhân kết nối nhưng đang bị quá tải bởi các công việc hành chính.</a:t>
            </a:r>
            <a:endParaRPr lang="en-US" dirty="0">
              <a:latin typeface="Times  New Roman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758309" y="4796076"/>
            <a:ext cx="6448544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504" y="5020270"/>
            <a:ext cx="649962" cy="64996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1217" y="5198983"/>
            <a:ext cx="292418" cy="2924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2504" y="58868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Giải pháp</a:t>
            </a:r>
            <a:endParaRPr lang="en-US" sz="2400" dirty="0">
              <a:latin typeface="Times  New Roman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82504" y="6372939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Ứng dụng Trợ lý ảo (AI) để giảm tải cho GVCN và tối ưu hóa sự phối hợp giữa Nhà trường – Gia đình.</a:t>
            </a:r>
            <a:endParaRPr lang="en-US" dirty="0">
              <a:latin typeface="Times  New Roman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423428" y="4796076"/>
            <a:ext cx="6448663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7623" y="5020270"/>
            <a:ext cx="649962" cy="64996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6335" y="5198983"/>
            <a:ext cx="292418" cy="29241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47623" y="58868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Thiếu công cụ</a:t>
            </a:r>
            <a:endParaRPr lang="en-US" sz="2400" dirty="0">
              <a:latin typeface="Times  New Roman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7647623" y="6372939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Chưa có trợ lý ảo am hiểu nghiệp vụ để hỗ trợ giải đáp tự động.</a:t>
            </a:r>
            <a:endParaRPr lang="en-US" dirty="0">
              <a:latin typeface="Times  New Roman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7C2CCE-219C-D06E-F731-79F9A002BE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484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Mục tiêu nghiên cứu</a:t>
            </a:r>
            <a:endParaRPr lang="en-US" sz="4800" dirty="0">
              <a:latin typeface="Times 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73081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Barlow Light" pitchFamily="34" charset="-122"/>
                <a:cs typeface="Barlow Light" pitchFamily="34" charset="-120"/>
              </a:rPr>
              <a:t>01</a:t>
            </a:r>
            <a:endParaRPr lang="en-US" dirty="0">
              <a:latin typeface="Times  New Roman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068360"/>
            <a:ext cx="64485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32375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Xây dựng lõi nền tảng</a:t>
            </a:r>
            <a:endParaRPr lang="en-US" sz="2400" dirty="0">
              <a:latin typeface="Times 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8309" y="3723680"/>
            <a:ext cx="64485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Quản lý dữ liệu học sinh tập trung, phân quyền theo vai trò (GV - HS - Phụ huynh).</a:t>
            </a:r>
            <a:endParaRPr lang="en-US" dirty="0">
              <a:latin typeface="Times 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23428" y="273081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Barlow Light" pitchFamily="34" charset="-122"/>
                <a:cs typeface="Barlow Light" pitchFamily="34" charset="-120"/>
              </a:rPr>
              <a:t>02</a:t>
            </a:r>
            <a:endParaRPr lang="en-US" dirty="0">
              <a:latin typeface="Times  New Roman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3068360"/>
            <a:ext cx="64486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3428" y="32375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Phát triển Trợ lý ảo</a:t>
            </a:r>
            <a:endParaRPr lang="en-US" sz="2400" dirty="0">
              <a:latin typeface="Times  New Roman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423428" y="3723680"/>
            <a:ext cx="64486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Tích hợp AI hỗ trợ trả lời phụ huynh, tư vấn học sinh và xử lý nghiệp vụ chủ nhiệm.</a:t>
            </a:r>
            <a:endParaRPr lang="en-US" dirty="0">
              <a:latin typeface="Times  New Roman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58309" y="4796076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Barlow Light" pitchFamily="34" charset="-122"/>
                <a:cs typeface="Barlow Light" pitchFamily="34" charset="-120"/>
              </a:rPr>
              <a:t>03</a:t>
            </a:r>
            <a:endParaRPr lang="en-US" dirty="0">
              <a:latin typeface="Times  New Roman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111948"/>
            <a:ext cx="64485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309" y="53028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Tự động hóa báo cáo</a:t>
            </a:r>
            <a:endParaRPr lang="en-US" sz="2400" dirty="0">
              <a:latin typeface="Times  New Roman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58309" y="5788938"/>
            <a:ext cx="64485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Theo dõi tiến độ rèn luyện và học tập thông qua hệ thống trực quan hóa (Dashboard).</a:t>
            </a:r>
            <a:endParaRPr lang="en-US" dirty="0">
              <a:latin typeface="Times  New Roman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423428" y="4796076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Barlow Light" pitchFamily="34" charset="-122"/>
                <a:cs typeface="Barlow Light" pitchFamily="34" charset="-120"/>
              </a:rPr>
              <a:t>04</a:t>
            </a:r>
            <a:endParaRPr lang="en-US" dirty="0">
              <a:latin typeface="Times  New Roman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5111948"/>
            <a:ext cx="64486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3428" y="53028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Giảm tải cho GVCN</a:t>
            </a:r>
            <a:endParaRPr lang="en-US" sz="2400" dirty="0">
              <a:latin typeface="Times  New Roman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423428" y="5788938"/>
            <a:ext cx="64486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Cắt giảm ít nhất 50% thời gian xử lý các đầu việc hành chính lặp lại.</a:t>
            </a:r>
            <a:endParaRPr lang="en-US" dirty="0">
              <a:latin typeface="Times  New Rom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075C9A-815F-B9D4-9061-3C27FCAAC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52124"/>
            <a:ext cx="790348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Đối tượng &amp; Phạm vi nghiên cứu</a:t>
            </a:r>
            <a:endParaRPr lang="en-US" sz="4800" dirty="0">
              <a:latin typeface="Times 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00632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Đối tượng nghiên cứu</a:t>
            </a:r>
            <a:endParaRPr lang="en-US" sz="2800" dirty="0">
              <a:latin typeface="Times 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65045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Quy trình nghiệp vụ chủ nhiệm và các kỹ thuật AI hỗ trợ hành chính giáo dục.</a:t>
            </a:r>
            <a:endParaRPr lang="en-US" dirty="0">
              <a:latin typeface="Times 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7139" y="300632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Phạm vi áp dụng</a:t>
            </a:r>
            <a:endParaRPr lang="en-US" sz="2800" dirty="0">
              <a:latin typeface="Times 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7139" y="3650456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Áp dụng cho mô hình trường THCS tiêu chuẩn (Khối 6-9).</a:t>
            </a:r>
            <a:endParaRPr lang="en-US" dirty="0">
              <a:latin typeface="Times 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8309" y="4836557"/>
            <a:ext cx="13113782" cy="1619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8309" y="5150525"/>
            <a:ext cx="13113782" cy="1326952"/>
          </a:xfrm>
          <a:prstGeom prst="roundRect">
            <a:avLst>
              <a:gd name="adj" fmla="val 2449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364" y="53975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Công </a:t>
            </a:r>
            <a:r>
              <a:rPr lang="en-US" sz="2400" b="1" dirty="0" err="1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nghệ</a:t>
            </a:r>
            <a:endParaRPr lang="en-US" sz="2400" dirty="0">
              <a:latin typeface="Times 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364" y="5883712"/>
            <a:ext cx="1261967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Mô hình ngôn ngữ lớn (Gemini 2.5).</a:t>
            </a:r>
            <a:endParaRPr lang="en-US" dirty="0">
              <a:latin typeface="Times 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17F044-3CD2-C3D0-02AD-66850A62F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650" y="7593051"/>
            <a:ext cx="21907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A65B-4C27-6CB9-054D-47A78DF8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3C8E5F1-213F-5255-2D0D-5FA9E9FD2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56D151-D447-4549-603C-C13AC9B83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0"/>
            <a:ext cx="82296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6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5804179-1A56-B282-57BD-689E4B401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B9C1A1-832C-D346-FE61-8073B2668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1" y="213964"/>
            <a:ext cx="7614270" cy="390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AE683B-3EC0-EEE1-8DA3-59674F2CA5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352" y="4114800"/>
            <a:ext cx="7700928" cy="3900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28A6-E034-7A51-8FA7-2B6E2A5D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BFA050-AE51-BE96-20ED-8B47C2E1616A}"/>
              </a:ext>
            </a:extLst>
          </p:cNvPr>
          <p:cNvSpPr/>
          <p:nvPr/>
        </p:nvSpPr>
        <p:spPr>
          <a:xfrm>
            <a:off x="111538" y="0"/>
            <a:ext cx="666761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Phân hệ dành cho Học sinh</a:t>
            </a:r>
            <a:endParaRPr lang="en-US" sz="4800" dirty="0">
              <a:latin typeface="Times  New Roman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6D0DED0-76AF-FFFB-0847-92BEC8EAD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38" y="1480423"/>
            <a:ext cx="541615" cy="541615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FFA4560-C71A-0AED-3C94-CCC8DCC0E97F}"/>
              </a:ext>
            </a:extLst>
          </p:cNvPr>
          <p:cNvSpPr/>
          <p:nvPr/>
        </p:nvSpPr>
        <p:spPr>
          <a:xfrm>
            <a:off x="923902" y="14804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Lớp học số</a:t>
            </a:r>
            <a:endParaRPr lang="en-US" sz="2400" dirty="0">
              <a:latin typeface="Times  New Roman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BEAE371-6488-9A23-94C2-4B6D15509609}"/>
              </a:ext>
            </a:extLst>
          </p:cNvPr>
          <p:cNvSpPr/>
          <p:nvPr/>
        </p:nvSpPr>
        <p:spPr>
          <a:xfrm>
            <a:off x="923902" y="1966555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Nhận thông báo, xem thời khóa biểu và thi đua theo thời gian thực.</a:t>
            </a:r>
            <a:endParaRPr lang="en-US" dirty="0">
              <a:latin typeface="Times  New Roman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CE2065E-1E30-0C78-A8EE-AF2192BC3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048" y="1480423"/>
            <a:ext cx="541615" cy="54161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9803A78F-FFE7-35C9-C52D-E915AEA1A5AD}"/>
              </a:ext>
            </a:extLst>
          </p:cNvPr>
          <p:cNvSpPr/>
          <p:nvPr/>
        </p:nvSpPr>
        <p:spPr>
          <a:xfrm>
            <a:off x="5385412" y="14804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Gia sư ảo</a:t>
            </a:r>
            <a:endParaRPr lang="en-US" sz="2400" dirty="0">
              <a:latin typeface="Times  New Roman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FC05D5D-AFF9-76E1-6900-3ED1542D7F86}"/>
              </a:ext>
            </a:extLst>
          </p:cNvPr>
          <p:cNvSpPr/>
          <p:nvPr/>
        </p:nvSpPr>
        <p:spPr>
          <a:xfrm>
            <a:off x="5385412" y="1966555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Hỗ trợ giải đáp các vướng mắc về học tập và rèn luyện 24/7.</a:t>
            </a:r>
            <a:endParaRPr lang="en-US" dirty="0">
              <a:latin typeface="Times  New Roman"/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D148D7E-92EC-E732-56A4-509F3647F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4558" y="1480423"/>
            <a:ext cx="541615" cy="541615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42640F55-097B-ACD3-0512-B71E76363F8B}"/>
              </a:ext>
            </a:extLst>
          </p:cNvPr>
          <p:cNvSpPr/>
          <p:nvPr/>
        </p:nvSpPr>
        <p:spPr>
          <a:xfrm>
            <a:off x="9846922" y="14804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Theo dõi tiến độ</a:t>
            </a:r>
            <a:endParaRPr lang="en-US" sz="2400" dirty="0">
              <a:latin typeface="Times  New Roman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A5897F0-59F0-462D-DAAA-F103E6D2DD8C}"/>
              </a:ext>
            </a:extLst>
          </p:cNvPr>
          <p:cNvSpPr/>
          <p:nvPr/>
        </p:nvSpPr>
        <p:spPr>
          <a:xfrm>
            <a:off x="9846922" y="1966555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Biểu đồ hiển thị mức độ hoàn thành nhiệm vụ cá nhân (như giao diện 75% bạn đã làm).</a:t>
            </a:r>
            <a:endParaRPr lang="en-US" dirty="0">
              <a:latin typeface="Times 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2B5BD3-AB71-0B04-835F-4E27A5EE7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DB1F83-F7B7-42DB-CF81-9D81FE042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968" y="3006685"/>
            <a:ext cx="10515600" cy="47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8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2690" y="21373"/>
            <a:ext cx="681073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Phân hệ dành cho Giáo viên</a:t>
            </a:r>
            <a:endParaRPr lang="en-US" sz="4800" dirty="0">
              <a:latin typeface="Times  New Roman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17540" y="955387"/>
            <a:ext cx="3705344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1735" y="117958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Quản lý lớp học</a:t>
            </a:r>
            <a:endParaRPr lang="en-US" sz="2400" dirty="0">
              <a:latin typeface="Times 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1735" y="1665714"/>
            <a:ext cx="325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Điểm danh tự động, theo dõi nề nếp và khen thưởng (Gamification).</a:t>
            </a:r>
            <a:endParaRPr lang="en-US" dirty="0">
              <a:latin typeface="Times  New Roman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39459" y="955387"/>
            <a:ext cx="3705463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4463654" y="117958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Trợ lý ảo GVCN</a:t>
            </a:r>
            <a:endParaRPr lang="en-US" sz="2400" dirty="0">
              <a:latin typeface="Times 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463654" y="1665714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Hỗ trợ soạn thảo nhận xét, trả lời câu hỏi của phụ huynh dựa trên dữ liệu học sinh.</a:t>
            </a:r>
            <a:endParaRPr lang="en-US" dirty="0">
              <a:latin typeface="Times  New Roman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169117" y="955387"/>
            <a:ext cx="3705463" cy="197465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SG" sz="2000">
              <a:latin typeface="Times  New Roman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393312" y="1179582"/>
            <a:ext cx="1384907" cy="54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Báo cáo tổng hợp</a:t>
            </a:r>
            <a:endParaRPr lang="en-US" sz="2400" dirty="0">
              <a:latin typeface="Times 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93312" y="1665714"/>
            <a:ext cx="3487631" cy="534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Xuất báo cáo rèn luyện tháng/</a:t>
            </a:r>
            <a:r>
              <a:rPr lang="en-US" dirty="0" err="1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học</a:t>
            </a: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kỳ</a:t>
            </a:r>
            <a:endParaRPr lang="en-US" dirty="0">
              <a:solidFill>
                <a:srgbClr val="384653"/>
              </a:solidFill>
              <a:latin typeface="Times  New Roman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dirty="0" err="1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chỉ</a:t>
            </a: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 với vài thao tác.</a:t>
            </a:r>
            <a:endParaRPr lang="en-US" dirty="0">
              <a:latin typeface="Times 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FECE6F-F53A-BA89-65C1-E5AD02F0C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124" y="3151345"/>
            <a:ext cx="10570595" cy="47922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9B792B-2E6F-ABE7-2C83-B6F7DB9E9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965" y="7638968"/>
            <a:ext cx="1867161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404" y="19374"/>
            <a:ext cx="713279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Phân hệ dành cho Phụ huynh</a:t>
            </a:r>
            <a:endParaRPr lang="en-US" sz="4800" dirty="0">
              <a:latin typeface="Times  New Roman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52" y="878826"/>
            <a:ext cx="4371261" cy="866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227" y="1961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Kết nối thông minh</a:t>
            </a:r>
            <a:endParaRPr lang="en-US" sz="2400" dirty="0">
              <a:latin typeface="Times 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9227" y="2448070"/>
            <a:ext cx="393811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Theo dõi sát sao tình hình rèn luyện, chuyên cần và sức khỏe của con tại trường.</a:t>
            </a:r>
            <a:endParaRPr lang="en-US" dirty="0">
              <a:latin typeface="Times  New Roman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913" y="878826"/>
            <a:ext cx="4371261" cy="866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0487" y="1961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Phân tích AI</a:t>
            </a:r>
            <a:endParaRPr lang="en-US" sz="2400" dirty="0">
              <a:latin typeface="Times  New Roman"/>
            </a:endParaRPr>
          </a:p>
        </p:txBody>
      </p:sp>
      <p:sp>
        <p:nvSpPr>
          <p:cNvPr id="9" name="Text 5"/>
          <p:cNvSpPr/>
          <p:nvPr/>
        </p:nvSpPr>
        <p:spPr>
          <a:xfrm>
            <a:off x="4970487" y="2448070"/>
            <a:ext cx="393811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Hệ thống tự động nhận xét về xu hướng năng lực của con để phụ huynh có hướng hỗ trợ kịp thời.</a:t>
            </a:r>
            <a:endParaRPr lang="en-US" dirty="0">
              <a:latin typeface="Times  New Roman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173" y="878826"/>
            <a:ext cx="4371261" cy="8665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41748" y="1961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Tiện ích tích hợp</a:t>
            </a:r>
            <a:endParaRPr lang="en-US" sz="2400" dirty="0">
              <a:latin typeface="Times  New Roman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341748" y="2448070"/>
            <a:ext cx="393811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Quản lý ví điện tử, lịch trình đưa đón và các thông báo chính thức từ nhà trường.</a:t>
            </a:r>
            <a:endParaRPr lang="en-US" dirty="0">
              <a:latin typeface="Times 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599364-E464-2484-623A-C2F13B0D5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D6A9ED-5C9E-F664-D32C-E8979C3578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5501" y="3618098"/>
            <a:ext cx="9819397" cy="4446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5867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Ưu điểm &amp; Hạn chế</a:t>
            </a:r>
            <a:endParaRPr lang="en-US" sz="4800" dirty="0">
              <a:latin typeface="Times 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455670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2589C9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Ưu điểm</a:t>
            </a:r>
            <a:endParaRPr lang="en-US" sz="2800" dirty="0">
              <a:latin typeface="Times 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4099798"/>
            <a:ext cx="629257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Giao diện thân thiện</a:t>
            </a:r>
            <a:endParaRPr lang="en-US" dirty="0">
              <a:latin typeface="Times  New Roman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Dữ liệu đồng bộ</a:t>
            </a:r>
            <a:endParaRPr lang="en-US" dirty="0">
              <a:latin typeface="Times  New Roman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AI phản hồi nhanh và chính xác</a:t>
            </a:r>
            <a:endParaRPr lang="en-US" dirty="0">
              <a:latin typeface="Times 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7139" y="3455670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063E5F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Hạn chế</a:t>
            </a:r>
            <a:endParaRPr lang="en-US" sz="2800" dirty="0">
              <a:latin typeface="Times 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7139" y="409979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Hiện tại đang sử dụng </a:t>
            </a:r>
            <a:r>
              <a:rPr lang="en-US" b="1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API gói miễn phí (Free Tier)</a:t>
            </a: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 nên bị giới hạn về tần suất yêu cầu (Rate Limit).</a:t>
            </a:r>
            <a:endParaRPr lang="en-US" dirty="0">
              <a:latin typeface="Times 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7139" y="500979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Hướng khắc phục</a:t>
            </a:r>
            <a:endParaRPr lang="en-US" sz="2400" dirty="0">
              <a:latin typeface="Times 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7139" y="558260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Times  New Roman"/>
                <a:ea typeface="Montserrat" pitchFamily="34" charset="-122"/>
                <a:cs typeface="Montserrat" pitchFamily="34" charset="-120"/>
              </a:rPr>
              <a:t>Sẵn nâng cấp lên gói thương mại để đảm bảo tính ổn định khi vận hành quy mô lớn.</a:t>
            </a:r>
            <a:endParaRPr lang="en-US" dirty="0">
              <a:latin typeface="Times 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6CA1EC-5A64-A2FB-14AE-D825B9C85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BD03-9000-57D6-36E8-08190A9F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64EC4A-C85F-0956-A922-087EE12843DC}"/>
              </a:ext>
            </a:extLst>
          </p:cNvPr>
          <p:cNvSpPr/>
          <p:nvPr/>
        </p:nvSpPr>
        <p:spPr>
          <a:xfrm>
            <a:off x="4464427" y="411730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vi-VN" sz="16600" b="1">
                <a:solidFill>
                  <a:srgbClr val="2E3C4E"/>
                </a:solidFill>
                <a:latin typeface="Times  New Roman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16600" dirty="0">
              <a:latin typeface="Times 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52F38-8587-F03C-29C4-7D32F1DE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650" y="7581900"/>
            <a:ext cx="219075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48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606</Words>
  <Application>Microsoft Office PowerPoint</Application>
  <PresentationFormat>Custom</PresentationFormat>
  <Paragraphs>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Minh Hạ</dc:creator>
  <cp:lastModifiedBy>minhha14022004@gmail.com</cp:lastModifiedBy>
  <cp:revision>7</cp:revision>
  <dcterms:created xsi:type="dcterms:W3CDTF">2026-04-23T09:26:43Z</dcterms:created>
  <dcterms:modified xsi:type="dcterms:W3CDTF">2026-08-30T16:59:27Z</dcterms:modified>
</cp:coreProperties>
</file>