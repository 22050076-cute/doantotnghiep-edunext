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59" r:id="rId6"/>
    <p:sldId id="270" r:id="rId7"/>
    <p:sldId id="265" r:id="rId8"/>
    <p:sldId id="266" r:id="rId9"/>
    <p:sldId id="267" r:id="rId10"/>
    <p:sldId id="268" r:id="rId11"/>
    <p:sldId id="263" r:id="rId12"/>
    <p:sldId id="269" r:id="rId13"/>
  </p:sldIdLst>
  <p:sldSz cx="12192000" cy="6858000"/>
  <p:notesSz cx="6858000" cy="12192000"/>
  <p:embeddedFontLs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79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EA2A-6B1A-CE06-1489-8DE925ED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5589B-09D8-FB93-45C4-CA0480071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4C78A-E9FE-1018-DB4C-C24BF797B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932A1-6D1B-D1F3-E923-19198073E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2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0CA8-97B1-BA95-208A-A9CBD67E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0948C-1459-4204-1260-7ADAB3EBB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30131-5CCB-87CF-5069-A7B515DD2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7CB57-A1C4-2D4C-CCDB-B1048C1A0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18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AD8D-01A6-32B7-5EF0-B272A818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D3216-0F42-2A34-45FC-E86704CEA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EEDC3-C1A4-2B84-2C05-4081128A3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64AED-5C02-F0FD-8CF9-C9806C4F5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46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9AE8-2D8D-C749-DA1F-8220EA56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9F121-E31D-99AC-32D3-8227125E5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02DC3-4611-60A8-61C4-9BA477FD9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231FD-7EDC-C32D-A7EB-F8F8B3664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07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FBEF-C7D4-C6CE-36DE-7DC61B60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BFA09-17FD-7D2C-583B-E7EBFEE90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C6297-7DA8-2866-BECF-14F8A16C5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DF030-B3DB-74E7-D25D-D5E8F03CE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80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C2DF-2C8F-2B51-58BB-D2F23452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FEAC1-BEC9-D502-4853-4E147D094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1D7B0-3AB0-AC12-4EB9-BE7F40453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C4E38-79BC-9B41-4E75-FBD5FAD81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68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60C6-9A00-F2F2-6E44-EEE52071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D203C-7EF5-AC5D-34F2-861650A4B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1F8BE-1431-783E-87B1-00BA2615F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A5510-B569-FEE4-5930-E2EC7EF92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3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224" y="1188891"/>
            <a:ext cx="6958335" cy="162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XÂY DỰNG HỆ THỐNG HỖ TRỢ CÔNG TÁC CHỦ NHIỆM TẠI TRƯỜNG THCS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3961" y="3662230"/>
            <a:ext cx="6296860" cy="162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vi-VN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Sinh viên thực hiện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 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Hạ Văn Minh</a:t>
            </a:r>
            <a:endParaRPr lang="vi-VN" sz="1600" kern="0" spc="-26" dirty="0">
              <a:solidFill>
                <a:srgbClr val="E0D6DE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vi-VN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Mã số sinh viên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 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22050076</a:t>
            </a:r>
            <a:endParaRPr lang="vi-VN" sz="1600" kern="0" spc="-26" dirty="0">
              <a:solidFill>
                <a:srgbClr val="E0D6DE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Lớp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 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25TH01</a:t>
            </a:r>
            <a:endParaRPr lang="vi-VN" sz="1600" kern="0" spc="-26" dirty="0">
              <a:solidFill>
                <a:srgbClr val="E0D6DE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Giảng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viên hướng dẫn: 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ThS. Dương Anh Tuấn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145" y="1537579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Nội dung báo cáo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9831" y="3084484"/>
            <a:ext cx="2161020" cy="1243112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S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3256132"/>
            <a:ext cx="18749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4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3626714"/>
            <a:ext cx="18749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Giới thiệu tổng quan và mục tiêu đề tài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54811" y="3084484"/>
            <a:ext cx="2161020" cy="1243112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S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455" y="3256132"/>
            <a:ext cx="18749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4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455" y="3626714"/>
            <a:ext cx="18749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Cơ sở lý thuyết và Công nghệ sử dụng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19791" y="3084484"/>
            <a:ext cx="2161020" cy="1243112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S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1435" y="3256132"/>
            <a:ext cx="18749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4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91435" y="3626714"/>
            <a:ext cx="1874945" cy="70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Phân tích &amp; thiết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kế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vi-VN" sz="1600" kern="0" spc="-26" dirty="0">
              <a:solidFill>
                <a:srgbClr val="E0D6DE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hệ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thống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284771" y="3084484"/>
            <a:ext cx="2161020" cy="1243112"/>
          </a:xfrm>
          <a:prstGeom prst="roundRect">
            <a:avLst>
              <a:gd name="adj" fmla="val 558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S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56415" y="3256131"/>
            <a:ext cx="18749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4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56414" y="3632693"/>
            <a:ext cx="18749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Kết quả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triển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khai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49751" y="3084484"/>
            <a:ext cx="2161020" cy="1243112"/>
          </a:xfrm>
          <a:prstGeom prst="roundRect">
            <a:avLst>
              <a:gd name="adj" fmla="val 709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SG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21394" y="3272099"/>
            <a:ext cx="860839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4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27031" y="3626713"/>
            <a:ext cx="1870248" cy="33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Kết luận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và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vi-VN" sz="1600" kern="0" spc="-26" dirty="0">
              <a:solidFill>
                <a:srgbClr val="E0D6DE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hướng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phát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vi-VN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triển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F4DD01-7920-EC34-CFDB-5ACBBF67E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952" y="114746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34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Thực trạng và mục tiêu đề tài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6952" y="775685"/>
            <a:ext cx="11427015" cy="1603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  Thực trạng THCS hiện tại: sổ sách thủ công, trao đổi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trên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Zalo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dễ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trôi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tin; nhận xét, đánh giá rèn luyện mang tính cảm quan, thiếu cơ chế cảnh báo sớm học sinh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sa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sút</a:t>
            </a:r>
            <a:r>
              <a:rPr lang="vi-VN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trong việc học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   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  Mục tiêu: Số hóa toàn bộ tác nghiệp chủ nhiệm — quản lý danh sách, chuyên cần, nộp bài và sổ điểm;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tích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hợp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Gemini 2.0 Flash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để sinh nhận xét cá nhân hóa và cảnh báo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rủi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00" kern="0" spc="-26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</a:t>
            </a:r>
            <a:r>
              <a:rPr lang="vi-VN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học tập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   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F1F5B-19B0-BDD4-9113-516C977DB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022" y="2020077"/>
            <a:ext cx="6924675" cy="457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9AF9A-94CD-D517-069E-86C7AF51A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35ECB-852A-98FA-1969-6CED82DC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2ECFD9-316F-41DE-5896-238345C20D5F}"/>
              </a:ext>
            </a:extLst>
          </p:cNvPr>
          <p:cNvSpPr/>
          <p:nvPr/>
        </p:nvSpPr>
        <p:spPr>
          <a:xfrm>
            <a:off x="161188" y="366670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34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Cơ sở lý thuyết và công nghệ sử dụng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F98778-F989-7F21-A246-57ACB69DEAF1}"/>
              </a:ext>
            </a:extLst>
          </p:cNvPr>
          <p:cNvSpPr/>
          <p:nvPr/>
        </p:nvSpPr>
        <p:spPr>
          <a:xfrm>
            <a:off x="297581" y="2221706"/>
            <a:ext cx="11546533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Lý thuyết: </a:t>
            </a:r>
            <a:r>
              <a:rPr lang="en-US" sz="1600" b="1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RBAC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với 5 vai trò (Admin, GVCN, GVBM, Phụ huynh, Học sinh); </a:t>
            </a:r>
            <a:r>
              <a:rPr lang="en-US" sz="1600" b="1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7 năng lực cốt lõi</a:t>
            </a: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cho THCS;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6DE3BD-6F81-BD66-453D-6FDB87DB2121}"/>
              </a:ext>
            </a:extLst>
          </p:cNvPr>
          <p:cNvSpPr/>
          <p:nvPr/>
        </p:nvSpPr>
        <p:spPr>
          <a:xfrm>
            <a:off x="297581" y="3738353"/>
            <a:ext cx="523266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Backend: Python + Flask (REST API), SQLAlchemy 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Database: Microsoft SQL Server — 38 bảng, ACID.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Realtime: Socket.IO (WebSockets).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AI: Gemini 2.0 Flash (JSON prompting, fallback templates).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Frontend: Bootstrap 5, Chart.js cho trực quan hóa.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kern="0" spc="-26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Mail: Flask‑Mail (SMTP TLS 587).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8C8BB278-D8BA-80E9-F8AB-5F23699A4A9D}"/>
              </a:ext>
            </a:extLst>
          </p:cNvPr>
          <p:cNvSpPr/>
          <p:nvPr/>
        </p:nvSpPr>
        <p:spPr>
          <a:xfrm>
            <a:off x="297581" y="3194600"/>
            <a:ext cx="1798696" cy="46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0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Công nghệ sử dụng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2F01DFDE-C5F5-80C2-8D7D-6C17DA68F6DE}"/>
              </a:ext>
            </a:extLst>
          </p:cNvPr>
          <p:cNvSpPr/>
          <p:nvPr/>
        </p:nvSpPr>
        <p:spPr>
          <a:xfrm>
            <a:off x="297580" y="1640989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0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Cơ sở lý thuyết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DC16E-2FAE-DE09-9686-52A133570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9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622" y="168252"/>
            <a:ext cx="3910525" cy="58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 err="1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Kiến</a:t>
            </a:r>
            <a:r>
              <a:rPr lang="en-US" sz="34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trúc </a:t>
            </a:r>
            <a:r>
              <a:rPr lang="en-US" sz="3400" b="1" kern="0" spc="-68" dirty="0" err="1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phân</a:t>
            </a:r>
            <a:r>
              <a:rPr lang="en-US" sz="3400" b="1" kern="0" spc="-68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3400" b="1" kern="0" spc="-68" dirty="0" err="1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tầng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421A8E-5F69-850B-5410-BB94E2715ABB}"/>
              </a:ext>
            </a:extLst>
          </p:cNvPr>
          <p:cNvGrpSpPr/>
          <p:nvPr/>
        </p:nvGrpSpPr>
        <p:grpSpPr>
          <a:xfrm>
            <a:off x="1993894" y="755779"/>
            <a:ext cx="8873412" cy="5915608"/>
            <a:chOff x="1993894" y="755779"/>
            <a:chExt cx="8873412" cy="59156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0846F4-8182-7BAF-A26E-D2356992B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3894" y="755779"/>
              <a:ext cx="8873412" cy="591560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C6A90D8-A8C7-E349-0DD9-BC1398CC1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8602" b="93878"/>
            <a:stretch>
              <a:fillRect/>
            </a:stretch>
          </p:blipFill>
          <p:spPr>
            <a:xfrm>
              <a:off x="3637190" y="1094986"/>
              <a:ext cx="5586820" cy="24832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6335148-DA3A-8CBE-53D3-36BD629C9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1291-80E6-929F-AA11-AAB1C6DA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268FA03-C637-214B-7823-7D64FD27A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4CE9FB-35F0-07C9-D962-4B4541499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7943"/>
            <a:ext cx="12192000" cy="19108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350FF9-2CC3-43D9-7B83-B093BE93317D}"/>
              </a:ext>
            </a:extLst>
          </p:cNvPr>
          <p:cNvSpPr txBox="1"/>
          <p:nvPr/>
        </p:nvSpPr>
        <p:spPr>
          <a:xfrm>
            <a:off x="157455" y="3591559"/>
            <a:ext cx="991144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[ 1 ]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ĐTB HK1/HK2,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cần.</a:t>
            </a:r>
            <a:endParaRPr lang="en-SG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[ 2 ]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sút</a:t>
            </a:r>
            <a:endParaRPr lang="en-SG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Rule Engine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ΔĐiểm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-1.0,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85%,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vắng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KP ≥ 3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SG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[ 3 ]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Bọc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JSON &amp; Gemini AI</a:t>
            </a: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Prompt JSON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Gemini 2.0 Flash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SG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[ 4 ]  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endParaRPr lang="en-SG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Lưu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ChiTietChatAI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báo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huynh</a:t>
            </a:r>
            <a:r>
              <a:rPr lang="en-SG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9D7F49B8-FCD2-6150-CFCC-5855DE42C09F}"/>
              </a:ext>
            </a:extLst>
          </p:cNvPr>
          <p:cNvSpPr/>
          <p:nvPr/>
        </p:nvSpPr>
        <p:spPr>
          <a:xfrm>
            <a:off x="212272" y="327602"/>
            <a:ext cx="4900904" cy="58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3400" b="1" kern="0" spc="-68">
                <a:solidFill>
                  <a:srgbClr val="FF8A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 đồ luồng xử lý dữ liệu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6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5888-FCDC-C1F8-538E-C6748071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404360-63A1-7D2D-4548-D708C71F6C63}"/>
              </a:ext>
            </a:extLst>
          </p:cNvPr>
          <p:cNvSpPr/>
          <p:nvPr/>
        </p:nvSpPr>
        <p:spPr>
          <a:xfrm>
            <a:off x="185613" y="110580"/>
            <a:ext cx="1086874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800" b="1" kern="0" spc="-57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Kết quả </a:t>
            </a:r>
            <a:endParaRPr lang="en-US" sz="2800" dirty="0"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324C20F-5BF2-B145-3C0F-2607B507D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11" y="220981"/>
            <a:ext cx="10304263" cy="4659694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6B7BF4F5-7175-5B9B-3B8D-B40FF637968F}"/>
              </a:ext>
            </a:extLst>
          </p:cNvPr>
          <p:cNvSpPr/>
          <p:nvPr/>
        </p:nvSpPr>
        <p:spPr>
          <a:xfrm>
            <a:off x="185613" y="5108330"/>
            <a:ext cx="261087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Admin</a:t>
            </a:r>
            <a:endParaRPr lang="en-US" sz="16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27152A02-5348-AEA7-418F-BA2EF8E84345}"/>
              </a:ext>
            </a:extLst>
          </p:cNvPr>
          <p:cNvSpPr/>
          <p:nvPr/>
        </p:nvSpPr>
        <p:spPr>
          <a:xfrm>
            <a:off x="185613" y="5560715"/>
            <a:ext cx="4153121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kern="0" spc="-22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Quản lý danh mục khối/lớp, tài khoản, phân công giảng dạy — bảng điều khiển tổng quan vận hành.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DD5CE4C-4DA0-E011-00FE-E486C79B6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3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90F7-DAE6-6AFE-2512-0D803480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339CEC-570B-C16C-76A4-00C43FAEE73F}"/>
              </a:ext>
            </a:extLst>
          </p:cNvPr>
          <p:cNvSpPr/>
          <p:nvPr/>
        </p:nvSpPr>
        <p:spPr>
          <a:xfrm>
            <a:off x="325573" y="222547"/>
            <a:ext cx="1086874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800" b="1" kern="0" spc="-57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Kết quả </a:t>
            </a:r>
            <a:endParaRPr lang="en-US" sz="2800" dirty="0"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DA5AEB-4350-79B9-B665-F3E18FBF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53" y="354564"/>
            <a:ext cx="9885063" cy="4470128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3362A68D-3F61-E5EB-8279-5507CE6816E1}"/>
              </a:ext>
            </a:extLst>
          </p:cNvPr>
          <p:cNvSpPr/>
          <p:nvPr/>
        </p:nvSpPr>
        <p:spPr>
          <a:xfrm>
            <a:off x="582265" y="5266419"/>
            <a:ext cx="261097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GVCN</a:t>
            </a:r>
            <a:endParaRPr lang="en-US" sz="16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F27D2C78-E6E5-5847-B34C-A368AFB6F990}"/>
              </a:ext>
            </a:extLst>
          </p:cNvPr>
          <p:cNvSpPr/>
          <p:nvPr/>
        </p:nvSpPr>
        <p:spPr>
          <a:xfrm>
            <a:off x="582265" y="5736052"/>
            <a:ext cx="3019351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vi-VN" sz="1400" kern="0" spc="-22">
                <a:solidFill>
                  <a:srgbClr val="E0D6DE"/>
                </a:solidFill>
                <a:latin typeface="+mj-lt"/>
                <a:ea typeface="Inter" pitchFamily="34" charset="-122"/>
                <a:cs typeface="Inter" pitchFamily="34" charset="-120"/>
              </a:rPr>
              <a:t>Điểm danh lóp học, giao bài tập, quản lý điểm và tình hình lớp học</a:t>
            </a:r>
            <a:endParaRPr lang="en-US" sz="1400" dirty="0">
              <a:latin typeface="+mj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FF2616D-BD05-A379-B605-5297E56DD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E5AE-9314-5D0D-821E-926A9852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3350C0-698B-3807-6C9F-87A389ED83FA}"/>
              </a:ext>
            </a:extLst>
          </p:cNvPr>
          <p:cNvSpPr/>
          <p:nvPr/>
        </p:nvSpPr>
        <p:spPr>
          <a:xfrm>
            <a:off x="325573" y="222547"/>
            <a:ext cx="1086874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800" b="1" kern="0" spc="-57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Kết quả </a:t>
            </a:r>
            <a:endParaRPr lang="en-US" sz="2800" dirty="0">
              <a:latin typeface="+mj-lt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6FD2553-48BA-9677-D576-C01EE617CE7B}"/>
              </a:ext>
            </a:extLst>
          </p:cNvPr>
          <p:cNvSpPr/>
          <p:nvPr/>
        </p:nvSpPr>
        <p:spPr>
          <a:xfrm>
            <a:off x="582265" y="5266419"/>
            <a:ext cx="261097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</a:t>
            </a:r>
            <a:r>
              <a:rPr lang="vi-VN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Phụ huynh</a:t>
            </a:r>
            <a:endParaRPr lang="en-US" sz="16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CDEE1A0-A906-AE1F-86D6-31EF21C32621}"/>
              </a:ext>
            </a:extLst>
          </p:cNvPr>
          <p:cNvSpPr/>
          <p:nvPr/>
        </p:nvSpPr>
        <p:spPr>
          <a:xfrm>
            <a:off x="582265" y="5736052"/>
            <a:ext cx="3019351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vi-VN" sz="1400" kern="0" spc="-22" dirty="0">
                <a:solidFill>
                  <a:srgbClr val="E0D6DE"/>
                </a:solidFill>
                <a:latin typeface="+mj-lt"/>
                <a:ea typeface="Inter" pitchFamily="34" charset="-122"/>
                <a:cs typeface="Inter" pitchFamily="34" charset="-120"/>
              </a:rPr>
              <a:t>Theo dõi các thông tin từ nhà trường và lớp học, kiểm tra bài tập và kết quả học tập</a:t>
            </a:r>
            <a:endParaRPr lang="en-US" sz="14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DC432-688A-0E4B-D028-A67FED4FF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067" y="447277"/>
            <a:ext cx="9616893" cy="4348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F6F8F-B95D-7998-C18D-39BA2228E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66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F92C-90F9-1119-33A5-0CCC6A06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9FBB0B-A38C-4726-C341-6D94D3383FA6}"/>
              </a:ext>
            </a:extLst>
          </p:cNvPr>
          <p:cNvSpPr/>
          <p:nvPr/>
        </p:nvSpPr>
        <p:spPr>
          <a:xfrm>
            <a:off x="325573" y="222547"/>
            <a:ext cx="1086874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vi-VN" sz="2800" b="1" kern="0" spc="-57" dirty="0">
                <a:solidFill>
                  <a:srgbClr val="FF8AAF"/>
                </a:solidFill>
                <a:latin typeface="+mj-lt"/>
                <a:ea typeface="Petrona Bold" pitchFamily="34" charset="-122"/>
                <a:cs typeface="Petrona Bold" pitchFamily="34" charset="-120"/>
              </a:rPr>
              <a:t>Kết quả </a:t>
            </a:r>
            <a:endParaRPr lang="en-US" sz="2800" dirty="0">
              <a:latin typeface="+mj-lt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0F41B8D-D624-CF53-7195-79B2E958E14D}"/>
              </a:ext>
            </a:extLst>
          </p:cNvPr>
          <p:cNvSpPr/>
          <p:nvPr/>
        </p:nvSpPr>
        <p:spPr>
          <a:xfrm>
            <a:off x="582265" y="5266419"/>
            <a:ext cx="2610975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</a:t>
            </a:r>
            <a:r>
              <a:rPr lang="vi-VN" sz="16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Học sinh</a:t>
            </a:r>
            <a:endParaRPr lang="en-US" sz="16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75BDB7A-AA4E-9B13-FC1E-397DC7F9D521}"/>
              </a:ext>
            </a:extLst>
          </p:cNvPr>
          <p:cNvSpPr/>
          <p:nvPr/>
        </p:nvSpPr>
        <p:spPr>
          <a:xfrm>
            <a:off x="582265" y="5736052"/>
            <a:ext cx="3019351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vi-VN" sz="1400" kern="0" spc="-22" dirty="0">
                <a:solidFill>
                  <a:srgbClr val="E0D6DE"/>
                </a:solidFill>
                <a:latin typeface="+mj-lt"/>
                <a:ea typeface="Inter" pitchFamily="34" charset="-122"/>
              </a:rPr>
              <a:t>Xem thời khóa biểu, bài tập và kết quả học tập</a:t>
            </a:r>
            <a:endParaRPr lang="en-US" sz="1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6D3C6-6161-C14C-E17A-11CE5B7A1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52" y="316004"/>
            <a:ext cx="9781586" cy="4423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2084C-4CB0-0CDF-FA53-F5DD27C2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6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197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64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Chương 5 — </a:t>
            </a:r>
            <a:r>
              <a:rPr lang="en-US" sz="3200" b="1" kern="0" spc="-64" dirty="0" err="1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Kết</a:t>
            </a:r>
            <a:r>
              <a:rPr lang="en-US" sz="3200" b="1" kern="0" spc="-64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kern="0" spc="-64" dirty="0" err="1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luận</a:t>
            </a:r>
            <a:r>
              <a:rPr lang="en-US" sz="3200" b="1" kern="0" spc="-64" dirty="0">
                <a:solidFill>
                  <a:srgbClr val="FF8AAF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&amp; Hướng phát triển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58602"/>
            <a:ext cx="3525948" cy="3538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384" y="147488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24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5500" y="1978720"/>
            <a:ext cx="317789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Kết quả đạt được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5450" y="2363639"/>
            <a:ext cx="3177897" cy="2403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</a:t>
            </a:r>
            <a:r>
              <a:rPr lang="vi-VN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Số hóa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nề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nếp, chuyên cần, bài tập và sổ điểm theo Thông tư 22/2021/TT‑BGDĐT.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Tích hợp Gemini 2.0 Flash + Rule Engine cho nhận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xét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vi-VN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đúng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cảnh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báo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vi-VN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tình hình học tập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Giảm tải nghiệp vụ hành chính cho GVCN; kết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nối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vi-VN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với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gia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kern="0" spc="-24" dirty="0" err="1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đình</a:t>
            </a:r>
            <a:r>
              <a:rPr lang="vi-VN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và nhà trường.</a:t>
            </a: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774" y="1358602"/>
            <a:ext cx="3526047" cy="35387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2683" y="147488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24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06800" y="1978720"/>
            <a:ext cx="317799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06800" y="2527200"/>
            <a:ext cx="3177996" cy="1201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Thử nghiệm hiện tại triển khai trên môi trường mô phỏng (Localhost) quy mô 1 lớp/trường.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Phụ thuộc kết nối Internet khi gọi Gemini API → rủi ro gián đoạn dịch vụ.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173" y="1358602"/>
            <a:ext cx="3526047" cy="3538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4082" y="147488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24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178199" y="1978720"/>
            <a:ext cx="317799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2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78199" y="2407045"/>
            <a:ext cx="3177996" cy="1441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Phát triển ứng dụng di động (Flutter) với Push Notification.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Nghiên cứu mô hình ngôn ngữ cục bộ (On‑premise SLM) để hoạt động ngoại tuyến.  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kern="0" spc="-24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- Mở rộng phân tích học bạ nhiều năm để hỗ trợ tư vấn chọn trường thi vào lớp 10 THPT.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7EBC8A-AF94-0422-0967-3145AB85D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FAC7-7A7F-AF7B-A56C-9F6C13E6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6BD1D-1575-BFB6-0E21-38021E6A64EE}"/>
              </a:ext>
            </a:extLst>
          </p:cNvPr>
          <p:cNvSpPr/>
          <p:nvPr/>
        </p:nvSpPr>
        <p:spPr>
          <a:xfrm>
            <a:off x="754781" y="2210715"/>
            <a:ext cx="10868745" cy="1997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vi-VN" sz="13800" b="1" kern="0" spc="-64" dirty="0">
                <a:solidFill>
                  <a:srgbClr val="FF8AAF"/>
                </a:solidFill>
                <a:latin typeface="Petrona Bold" pitchFamily="34" charset="0"/>
              </a:rPr>
              <a:t>THANK YOU</a:t>
            </a:r>
            <a:endParaRPr lang="en-US" sz="13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AA97E6-FBE8-BAF9-28B8-66EC4128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029" y="6484067"/>
            <a:ext cx="1232971" cy="37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6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706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 Light</vt:lpstr>
      <vt:lpstr>Times New Roman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Minh Hạ</dc:creator>
  <cp:lastModifiedBy>minhha14022004@gmail.com</cp:lastModifiedBy>
  <cp:revision>10</cp:revision>
  <dcterms:created xsi:type="dcterms:W3CDTF">2026-09-12T17:04:18Z</dcterms:created>
  <dcterms:modified xsi:type="dcterms:W3CDTF">2026-09-13T04:33:21Z</dcterms:modified>
</cp:coreProperties>
</file>