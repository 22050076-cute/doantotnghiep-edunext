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65" r:id="rId2"/>
    <p:sldId id="256" r:id="rId3"/>
    <p:sldId id="257" r:id="rId4"/>
    <p:sldId id="258" r:id="rId5"/>
    <p:sldId id="259" r:id="rId6"/>
    <p:sldId id="266" r:id="rId7"/>
    <p:sldId id="260" r:id="rId8"/>
    <p:sldId id="267" r:id="rId9"/>
    <p:sldId id="261" r:id="rId10"/>
    <p:sldId id="262" r:id="rId11"/>
    <p:sldId id="263" r:id="rId12"/>
    <p:sldId id="264" r:id="rId13"/>
  </p:sldIdLst>
  <p:sldSz cx="14630400" cy="8229600"/>
  <p:notesSz cx="8229600" cy="14630400"/>
  <p:embeddedFontLst>
    <p:embeddedFont>
      <p:font typeface="Overpass"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268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56087-6AD4-1628-99B9-C7C77A77E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ADF9C-D679-378D-E4EB-BB427F501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CBB46-97EB-CA2F-FF9D-9AC34EF7D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0FCD84-CE80-EB2F-D567-16D6BFB568ED}"/>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721554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ADBAA-7790-659D-87CA-F0711F359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B140B-B96B-640D-5A19-8F6C36CA8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7A6638-73F8-A74B-F92E-9E3086C319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F87AE8-2F79-5CCE-68AC-081B2854E36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67670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6B522-908B-44F0-BA40-7852071A3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AE005-CDAA-E1FF-825B-FA6B4E85A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1FBB96-E473-A0F2-1B42-E7471542C8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41F6B9-34F8-7C2C-5B43-9DAF34AD49A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830726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2762F-EA86-94BC-DE63-8809023E43A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798BB3D-4328-755B-3A37-809AFE64078A}"/>
              </a:ext>
            </a:extLst>
          </p:cNvPr>
          <p:cNvSpPr/>
          <p:nvPr/>
        </p:nvSpPr>
        <p:spPr>
          <a:xfrm>
            <a:off x="138224" y="2085278"/>
            <a:ext cx="9210906" cy="1408033"/>
          </a:xfrm>
          <a:prstGeom prst="rect">
            <a:avLst/>
          </a:prstGeom>
          <a:noFill/>
          <a:ln/>
        </p:spPr>
        <p:txBody>
          <a:bodyPr wrap="square" lIns="0" tIns="0" rIns="0" bIns="0" rtlCol="0" anchor="t"/>
          <a:lstStyle/>
          <a:p>
            <a:pPr marL="0" indent="0" algn="ctr">
              <a:lnSpc>
                <a:spcPts val="5500"/>
              </a:lnSpc>
              <a:buNone/>
            </a:pPr>
            <a:r>
              <a:rPr lang="en-US" sz="4400" b="1">
                <a:solidFill>
                  <a:srgbClr val="FFFFFF"/>
                </a:solidFill>
                <a:latin typeface="Overpass Bold" pitchFamily="34" charset="0"/>
                <a:ea typeface="Overpass Bold" pitchFamily="34" charset="-122"/>
                <a:cs typeface="Overpass Bold" pitchFamily="34" charset="-120"/>
              </a:rPr>
              <a:t>PHÂN LOẠI HOA DIÊN VĨ (IRIS) SỬ DỤNG THUẬT TOÁN K-NEAREST NEIGHBORS (KNN)</a:t>
            </a:r>
            <a:endParaRPr lang="en-US" sz="4400" dirty="0"/>
          </a:p>
        </p:txBody>
      </p:sp>
      <p:pic>
        <p:nvPicPr>
          <p:cNvPr id="15" name="Image 0" descr="preencoded.png">
            <a:extLst>
              <a:ext uri="{FF2B5EF4-FFF2-40B4-BE49-F238E27FC236}">
                <a16:creationId xmlns:a16="http://schemas.microsoft.com/office/drawing/2014/main" id="{98270538-8E0F-4353-78CD-83C8392807AF}"/>
              </a:ext>
            </a:extLst>
          </p:cNvPr>
          <p:cNvPicPr>
            <a:picLocks noChangeAspect="1"/>
          </p:cNvPicPr>
          <p:nvPr/>
        </p:nvPicPr>
        <p:blipFill>
          <a:blip r:embed="rId3"/>
          <a:stretch>
            <a:fillRect/>
          </a:stretch>
        </p:blipFill>
        <p:spPr>
          <a:xfrm>
            <a:off x="9643233" y="2085278"/>
            <a:ext cx="4156944" cy="4871860"/>
          </a:xfrm>
          <a:prstGeom prst="rect">
            <a:avLst/>
          </a:prstGeom>
        </p:spPr>
      </p:pic>
      <p:sp>
        <p:nvSpPr>
          <p:cNvPr id="16" name="Text 0">
            <a:extLst>
              <a:ext uri="{FF2B5EF4-FFF2-40B4-BE49-F238E27FC236}">
                <a16:creationId xmlns:a16="http://schemas.microsoft.com/office/drawing/2014/main" id="{A88E838B-5140-0A8F-FC03-09D0C7290E3D}"/>
              </a:ext>
            </a:extLst>
          </p:cNvPr>
          <p:cNvSpPr/>
          <p:nvPr/>
        </p:nvSpPr>
        <p:spPr>
          <a:xfrm>
            <a:off x="1737256" y="4998395"/>
            <a:ext cx="7150266" cy="758503"/>
          </a:xfrm>
          <a:prstGeom prst="rect">
            <a:avLst/>
          </a:prstGeom>
          <a:noFill/>
          <a:ln/>
        </p:spPr>
        <p:txBody>
          <a:bodyPr wrap="square" lIns="0" tIns="0" rIns="0" bIns="0" rtlCol="0" anchor="t"/>
          <a:lstStyle/>
          <a:p>
            <a:pPr marL="0" indent="0" algn="l">
              <a:lnSpc>
                <a:spcPts val="5500"/>
              </a:lnSpc>
              <a:buNone/>
            </a:pPr>
            <a:r>
              <a:rPr lang="vi-VN" sz="2400" b="1">
                <a:solidFill>
                  <a:srgbClr val="FFFFFF"/>
                </a:solidFill>
                <a:latin typeface="Overpass Bold" pitchFamily="34" charset="0"/>
                <a:ea typeface="Overpass Bold" pitchFamily="34" charset="-122"/>
                <a:cs typeface="Overpass Bold" pitchFamily="34" charset="-120"/>
              </a:rPr>
              <a:t>Giảng viên hướng dẫn </a:t>
            </a:r>
            <a:r>
              <a:rPr lang="vi-VN" sz="2000" b="1">
                <a:solidFill>
                  <a:srgbClr val="FFFFFF"/>
                </a:solidFill>
                <a:latin typeface="Overpass Bold" pitchFamily="34" charset="0"/>
                <a:ea typeface="Overpass Bold" pitchFamily="34" charset="-122"/>
                <a:cs typeface="Overpass Bold" pitchFamily="34" charset="-120"/>
              </a:rPr>
              <a:t>: </a:t>
            </a:r>
            <a:r>
              <a:rPr lang="vi-VN" sz="2400" b="1">
                <a:solidFill>
                  <a:srgbClr val="FFFFFF"/>
                </a:solidFill>
                <a:latin typeface="Overpass Bold" pitchFamily="34" charset="0"/>
                <a:ea typeface="Overpass Bold" pitchFamily="34" charset="-122"/>
                <a:cs typeface="Overpass Bold" pitchFamily="34" charset="-120"/>
              </a:rPr>
              <a:t>TS. Lê Hoàng Hiệp</a:t>
            </a:r>
            <a:endParaRPr lang="vi-VN" sz="2000" b="1">
              <a:solidFill>
                <a:srgbClr val="FFFFFF"/>
              </a:solidFill>
              <a:latin typeface="Overpass Bold" pitchFamily="34" charset="0"/>
              <a:ea typeface="Overpass Bold" pitchFamily="34" charset="-122"/>
              <a:cs typeface="Overpass Bold" pitchFamily="34" charset="-120"/>
            </a:endParaRPr>
          </a:p>
          <a:p>
            <a:pPr marL="0" indent="0" algn="l">
              <a:lnSpc>
                <a:spcPts val="5500"/>
              </a:lnSpc>
              <a:buNone/>
            </a:pPr>
            <a:r>
              <a:rPr lang="vi-VN" sz="2000" b="1">
                <a:solidFill>
                  <a:srgbClr val="FFFFFF"/>
                </a:solidFill>
                <a:latin typeface="Overpass Bold" pitchFamily="34" charset="0"/>
                <a:ea typeface="Overpass Bold" pitchFamily="34" charset="-122"/>
                <a:cs typeface="Overpass Bold" pitchFamily="34" charset="-120"/>
              </a:rPr>
              <a:t>	Sinh viên thực hiện : Quách Thị Thu_22050034</a:t>
            </a:r>
          </a:p>
          <a:p>
            <a:pPr marL="0" indent="0" algn="l">
              <a:lnSpc>
                <a:spcPts val="5500"/>
              </a:lnSpc>
              <a:buNone/>
            </a:pPr>
            <a:endParaRPr lang="en-US" sz="2000" dirty="0"/>
          </a:p>
        </p:txBody>
      </p:sp>
      <p:pic>
        <p:nvPicPr>
          <p:cNvPr id="18" name="Picture 17">
            <a:extLst>
              <a:ext uri="{FF2B5EF4-FFF2-40B4-BE49-F238E27FC236}">
                <a16:creationId xmlns:a16="http://schemas.microsoft.com/office/drawing/2014/main" id="{E4D85251-DBED-FE77-308A-EE8858046FFB}"/>
              </a:ext>
            </a:extLst>
          </p:cNvPr>
          <p:cNvPicPr>
            <a:picLocks noChangeAspect="1"/>
          </p:cNvPicPr>
          <p:nvPr/>
        </p:nvPicPr>
        <p:blipFill>
          <a:blip r:embed="rId4"/>
          <a:stretch>
            <a:fillRect/>
          </a:stretch>
        </p:blipFill>
        <p:spPr>
          <a:xfrm>
            <a:off x="12551928" y="7716644"/>
            <a:ext cx="2078472" cy="445010"/>
          </a:xfrm>
          <a:prstGeom prst="rect">
            <a:avLst/>
          </a:prstGeom>
        </p:spPr>
      </p:pic>
    </p:spTree>
    <p:extLst>
      <p:ext uri="{BB962C8B-B14F-4D97-AF65-F5344CB8AC3E}">
        <p14:creationId xmlns:p14="http://schemas.microsoft.com/office/powerpoint/2010/main" val="712951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276232" y="1237894"/>
            <a:ext cx="5596530" cy="1408033"/>
          </a:xfrm>
          <a:prstGeom prst="rect">
            <a:avLst/>
          </a:prstGeom>
          <a:noFill/>
          <a:ln/>
        </p:spPr>
        <p:txBody>
          <a:bodyPr wrap="square" lIns="0" tIns="0" rIns="0" bIns="0" rtlCol="0" anchor="t"/>
          <a:lstStyle/>
          <a:p>
            <a:pPr marL="0" indent="0" algn="l">
              <a:lnSpc>
                <a:spcPts val="5500"/>
              </a:lnSpc>
              <a:buNone/>
            </a:pPr>
            <a:r>
              <a:rPr lang="vi-VN" sz="4400" b="1">
                <a:solidFill>
                  <a:srgbClr val="FFFFFF"/>
                </a:solidFill>
                <a:latin typeface="Overpass Bold" pitchFamily="34" charset="0"/>
                <a:ea typeface="Overpass Bold" pitchFamily="34" charset="-122"/>
                <a:cs typeface="Overpass Bold" pitchFamily="34" charset="-120"/>
              </a:rPr>
              <a:t>Giới thiệu đề tài</a:t>
            </a:r>
            <a:endParaRPr lang="en-US" sz="4400" dirty="0"/>
          </a:p>
        </p:txBody>
      </p:sp>
      <p:sp>
        <p:nvSpPr>
          <p:cNvPr id="3" name="Shape 1"/>
          <p:cNvSpPr/>
          <p:nvPr/>
        </p:nvSpPr>
        <p:spPr>
          <a:xfrm>
            <a:off x="792584" y="2333693"/>
            <a:ext cx="6335884" cy="5397190"/>
          </a:xfrm>
          <a:prstGeom prst="roundRect">
            <a:avLst>
              <a:gd name="adj" fmla="val 5431"/>
            </a:avLst>
          </a:prstGeom>
          <a:solidFill>
            <a:srgbClr val="F20374"/>
          </a:solidFill>
          <a:ln w="7620">
            <a:solidFill>
              <a:srgbClr val="FF1C8D"/>
            </a:solidFill>
            <a:prstDash val="solid"/>
          </a:ln>
        </p:spPr>
        <p:txBody>
          <a:bodyPr/>
          <a:lstStyle/>
          <a:p>
            <a:endParaRPr lang="en-US"/>
          </a:p>
        </p:txBody>
      </p:sp>
      <p:sp>
        <p:nvSpPr>
          <p:cNvPr id="5" name="Text 3"/>
          <p:cNvSpPr/>
          <p:nvPr/>
        </p:nvSpPr>
        <p:spPr>
          <a:xfrm>
            <a:off x="1084659" y="4120990"/>
            <a:ext cx="4613613" cy="3004639"/>
          </a:xfrm>
          <a:prstGeom prst="rect">
            <a:avLst/>
          </a:prstGeom>
          <a:noFill/>
          <a:ln/>
        </p:spPr>
        <p:txBody>
          <a:bodyPr wrap="none" lIns="0" tIns="0" rIns="0" bIns="0" rtlCol="0" anchor="t"/>
          <a:lstStyle/>
          <a:p>
            <a:pPr marL="0" indent="0" algn="l">
              <a:lnSpc>
                <a:spcPts val="3000"/>
              </a:lnSpc>
              <a:buNone/>
            </a:pPr>
            <a:endParaRPr lang="vi-VN" sz="2400">
              <a:solidFill>
                <a:srgbClr val="FFFFFF"/>
              </a:solidFill>
              <a:latin typeface="Overpass" pitchFamily="34" charset="0"/>
              <a:ea typeface="Overpass" pitchFamily="34" charset="-122"/>
              <a:cs typeface="Overpass" pitchFamily="34" charset="-120"/>
            </a:endParaRPr>
          </a:p>
        </p:txBody>
      </p:sp>
      <p:sp>
        <p:nvSpPr>
          <p:cNvPr id="6" name="Shape 4"/>
          <p:cNvSpPr/>
          <p:nvPr/>
        </p:nvSpPr>
        <p:spPr>
          <a:xfrm>
            <a:off x="7794703" y="2230244"/>
            <a:ext cx="5875310" cy="5486400"/>
          </a:xfrm>
          <a:prstGeom prst="roundRect">
            <a:avLst>
              <a:gd name="adj" fmla="val 5431"/>
            </a:avLst>
          </a:prstGeom>
          <a:solidFill>
            <a:srgbClr val="F20374"/>
          </a:solidFill>
          <a:ln w="7620">
            <a:solidFill>
              <a:srgbClr val="FF1C8D"/>
            </a:solidFill>
            <a:prstDash val="solid"/>
          </a:ln>
        </p:spPr>
        <p:txBody>
          <a:bodyPr/>
          <a:lstStyle/>
          <a:p>
            <a:endParaRPr lang="en-US"/>
          </a:p>
        </p:txBody>
      </p:sp>
      <p:pic>
        <p:nvPicPr>
          <p:cNvPr id="16" name="Picture 15">
            <a:extLst>
              <a:ext uri="{FF2B5EF4-FFF2-40B4-BE49-F238E27FC236}">
                <a16:creationId xmlns:a16="http://schemas.microsoft.com/office/drawing/2014/main" id="{19D6515C-C578-000E-134E-7D8DAA4BC477}"/>
              </a:ext>
            </a:extLst>
          </p:cNvPr>
          <p:cNvPicPr>
            <a:picLocks noChangeAspect="1"/>
          </p:cNvPicPr>
          <p:nvPr/>
        </p:nvPicPr>
        <p:blipFill>
          <a:blip r:embed="rId3"/>
          <a:stretch>
            <a:fillRect/>
          </a:stretch>
        </p:blipFill>
        <p:spPr>
          <a:xfrm>
            <a:off x="12551928" y="7716644"/>
            <a:ext cx="2078472" cy="445010"/>
          </a:xfrm>
          <a:prstGeom prst="rect">
            <a:avLst/>
          </a:prstGeom>
        </p:spPr>
      </p:pic>
      <p:sp>
        <p:nvSpPr>
          <p:cNvPr id="17" name="TextBox 16">
            <a:extLst>
              <a:ext uri="{FF2B5EF4-FFF2-40B4-BE49-F238E27FC236}">
                <a16:creationId xmlns:a16="http://schemas.microsoft.com/office/drawing/2014/main" id="{14DF3CFE-05AD-E069-E36D-2A2B9F269386}"/>
              </a:ext>
            </a:extLst>
          </p:cNvPr>
          <p:cNvSpPr txBox="1"/>
          <p:nvPr/>
        </p:nvSpPr>
        <p:spPr>
          <a:xfrm>
            <a:off x="1084659" y="3193960"/>
            <a:ext cx="5808214" cy="3477875"/>
          </a:xfrm>
          <a:prstGeom prst="rect">
            <a:avLst/>
          </a:prstGeom>
          <a:noFill/>
        </p:spPr>
        <p:txBody>
          <a:bodyPr wrap="square" rtlCol="0">
            <a:spAutoFit/>
          </a:bodyPr>
          <a:lstStyle/>
          <a:p>
            <a:pPr marL="342900" indent="-342900" algn="just">
              <a:lnSpc>
                <a:spcPts val="3000"/>
              </a:lnSpc>
              <a:buFont typeface="Wingdings" panose="05000000000000000000" pitchFamily="2" charset="2"/>
              <a:buChar char="q"/>
            </a:pPr>
            <a:r>
              <a:rPr lang="vi-VN" sz="2000">
                <a:solidFill>
                  <a:srgbClr val="FFFFFF"/>
                </a:solidFill>
                <a:latin typeface="Overpass" pitchFamily="34" charset="0"/>
                <a:ea typeface="Overpass" pitchFamily="34" charset="-122"/>
                <a:cs typeface="Overpass" pitchFamily="34" charset="-120"/>
              </a:rPr>
              <a:t>Đề tài “Phân loại hoa Diên Vĩ (Iris) sử dụng thuật toán K-Nearest Neighbors (KNN)” tập trung xây dựng một mô hình học máy nhằm phân loại các loài hoa dựa trên các đặc trưng hình học như chiều dài và chiều rộng của đài hoa và cánh hoa.</a:t>
            </a:r>
          </a:p>
          <a:p>
            <a:pPr marL="342900" indent="-342900" algn="just">
              <a:lnSpc>
                <a:spcPts val="3000"/>
              </a:lnSpc>
              <a:buFont typeface="Wingdings" panose="05000000000000000000" pitchFamily="2" charset="2"/>
              <a:buChar char="q"/>
            </a:pPr>
            <a:r>
              <a:rPr lang="vi-VN" sz="2000">
                <a:solidFill>
                  <a:srgbClr val="FFFFFF"/>
                </a:solidFill>
                <a:latin typeface="Overpass" pitchFamily="34" charset="0"/>
                <a:ea typeface="Overpass" pitchFamily="34" charset="-122"/>
                <a:cs typeface="Overpass" pitchFamily="34" charset="-120"/>
              </a:rPr>
              <a:t>Sử dụng 4 đặc trưng hình học để dự đoán 3 loại hoa </a:t>
            </a:r>
          </a:p>
          <a:p>
            <a:pPr algn="just"/>
            <a:endParaRPr lang="en-US" sz="2000"/>
          </a:p>
        </p:txBody>
      </p:sp>
      <p:sp>
        <p:nvSpPr>
          <p:cNvPr id="18" name="Text 0">
            <a:extLst>
              <a:ext uri="{FF2B5EF4-FFF2-40B4-BE49-F238E27FC236}">
                <a16:creationId xmlns:a16="http://schemas.microsoft.com/office/drawing/2014/main" id="{D285B04D-9741-4ABE-06E0-D6A6FEDF9E52}"/>
              </a:ext>
            </a:extLst>
          </p:cNvPr>
          <p:cNvSpPr/>
          <p:nvPr/>
        </p:nvSpPr>
        <p:spPr>
          <a:xfrm>
            <a:off x="8361081" y="1202929"/>
            <a:ext cx="5596530" cy="1408033"/>
          </a:xfrm>
          <a:prstGeom prst="rect">
            <a:avLst/>
          </a:prstGeom>
          <a:noFill/>
          <a:ln/>
        </p:spPr>
        <p:txBody>
          <a:bodyPr wrap="square" lIns="0" tIns="0" rIns="0" bIns="0" rtlCol="0" anchor="t"/>
          <a:lstStyle/>
          <a:p>
            <a:pPr marL="0" indent="0" algn="l">
              <a:lnSpc>
                <a:spcPts val="5500"/>
              </a:lnSpc>
              <a:buNone/>
            </a:pPr>
            <a:r>
              <a:rPr lang="vi-VN" sz="4400" b="1">
                <a:solidFill>
                  <a:srgbClr val="FFFFFF"/>
                </a:solidFill>
                <a:latin typeface="Overpass Bold" pitchFamily="34" charset="0"/>
                <a:ea typeface="Overpass Bold" pitchFamily="34" charset="-122"/>
                <a:cs typeface="Overpass Bold" pitchFamily="34" charset="-120"/>
              </a:rPr>
              <a:t>Lý do chọn đề tài</a:t>
            </a:r>
            <a:endParaRPr lang="en-US" sz="4400" dirty="0"/>
          </a:p>
        </p:txBody>
      </p:sp>
      <p:sp>
        <p:nvSpPr>
          <p:cNvPr id="20" name="TextBox 19">
            <a:extLst>
              <a:ext uri="{FF2B5EF4-FFF2-40B4-BE49-F238E27FC236}">
                <a16:creationId xmlns:a16="http://schemas.microsoft.com/office/drawing/2014/main" id="{9586DA10-C1AA-E5E6-0FF5-FD9931CFD47C}"/>
              </a:ext>
            </a:extLst>
          </p:cNvPr>
          <p:cNvSpPr txBox="1"/>
          <p:nvPr/>
        </p:nvSpPr>
        <p:spPr>
          <a:xfrm>
            <a:off x="7872761" y="3106367"/>
            <a:ext cx="5672979" cy="3920304"/>
          </a:xfrm>
          <a:prstGeom prst="rect">
            <a:avLst/>
          </a:prstGeom>
          <a:noFill/>
        </p:spPr>
        <p:txBody>
          <a:bodyPr wrap="square" rtlCol="0">
            <a:spAutoFit/>
          </a:bodyPr>
          <a:lstStyle/>
          <a:p>
            <a:pPr marL="342900" indent="-342900" algn="just">
              <a:lnSpc>
                <a:spcPts val="3000"/>
              </a:lnSpc>
              <a:buFont typeface="Wingdings" panose="05000000000000000000" pitchFamily="2" charset="2"/>
              <a:buChar char="q"/>
            </a:pPr>
            <a:r>
              <a:rPr lang="vi-VN" sz="2000">
                <a:solidFill>
                  <a:srgbClr val="FFFFFF"/>
                </a:solidFill>
                <a:latin typeface="Overpass" pitchFamily="34" charset="0"/>
                <a:ea typeface="Overpass" pitchFamily="34" charset="-122"/>
                <a:cs typeface="Overpass" pitchFamily="34" charset="-120"/>
              </a:rPr>
              <a:t>Bài toán phân loại là một trong những bài toán cơ bản và quan trọng trong học máy</a:t>
            </a:r>
          </a:p>
          <a:p>
            <a:pPr marL="342900" indent="-342900" algn="just">
              <a:lnSpc>
                <a:spcPts val="3000"/>
              </a:lnSpc>
              <a:buFont typeface="Wingdings" panose="05000000000000000000" pitchFamily="2" charset="2"/>
              <a:buChar char="q"/>
            </a:pPr>
            <a:r>
              <a:rPr lang="vi-VN" sz="2000">
                <a:solidFill>
                  <a:srgbClr val="FFFFFF"/>
                </a:solidFill>
                <a:latin typeface="Overpass" pitchFamily="34" charset="0"/>
                <a:ea typeface="Overpass" pitchFamily="34" charset="-122"/>
                <a:cs typeface="Overpass" pitchFamily="34" charset="-120"/>
              </a:rPr>
              <a:t>Bộ dữ liệu Iris đơn giản, dễ hiểu, phù hợp cho người mới học</a:t>
            </a:r>
          </a:p>
          <a:p>
            <a:pPr marL="342900" indent="-342900" algn="just">
              <a:lnSpc>
                <a:spcPts val="3000"/>
              </a:lnSpc>
              <a:buFont typeface="Wingdings" panose="05000000000000000000" pitchFamily="2" charset="2"/>
              <a:buChar char="q"/>
            </a:pPr>
            <a:r>
              <a:rPr lang="vi-VN" sz="2000">
                <a:solidFill>
                  <a:srgbClr val="FFFFFF"/>
                </a:solidFill>
                <a:latin typeface="Overpass" pitchFamily="34" charset="0"/>
                <a:ea typeface="Overpass" pitchFamily="34" charset="-122"/>
                <a:cs typeface="Overpass" pitchFamily="34" charset="-120"/>
              </a:rPr>
              <a:t>Thuật toán KNN dễ triển khai nhưng vẫn cho độ chính xác cao</a:t>
            </a:r>
          </a:p>
          <a:p>
            <a:pPr marL="342900" indent="-342900" algn="just">
              <a:lnSpc>
                <a:spcPts val="3000"/>
              </a:lnSpc>
              <a:buFont typeface="Wingdings" panose="05000000000000000000" pitchFamily="2" charset="2"/>
              <a:buChar char="q"/>
            </a:pPr>
            <a:r>
              <a:rPr lang="vi-VN" sz="2000">
                <a:solidFill>
                  <a:srgbClr val="FFFFFF"/>
                </a:solidFill>
                <a:latin typeface="Overpass" pitchFamily="34" charset="0"/>
                <a:ea typeface="Overpass" pitchFamily="34" charset="-122"/>
                <a:cs typeface="Overpass" pitchFamily="34" charset="-120"/>
              </a:rPr>
              <a:t>Giúp hiểu rõ quy trình xây dựng một ứng dụng học máy hoàn chỉnh</a:t>
            </a:r>
          </a:p>
          <a:p>
            <a:pPr marL="342900" indent="-342900" algn="just">
              <a:lnSpc>
                <a:spcPts val="3000"/>
              </a:lnSpc>
              <a:buFont typeface="Wingdings" panose="05000000000000000000" pitchFamily="2" charset="2"/>
              <a:buChar char="q"/>
            </a:pPr>
            <a:r>
              <a:rPr lang="vi-VN" sz="2000">
                <a:solidFill>
                  <a:srgbClr val="FFFFFF"/>
                </a:solidFill>
                <a:latin typeface="Overpass" pitchFamily="34" charset="0"/>
                <a:ea typeface="Overpass" pitchFamily="34" charset="-122"/>
                <a:cs typeface="Overpass" pitchFamily="34" charset="-120"/>
              </a:rPr>
              <a:t>Là nền tảng để phát triển các bài toán phức tạp hơn trong tương lai</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9" name="Shape 1">
            <a:extLst>
              <a:ext uri="{FF2B5EF4-FFF2-40B4-BE49-F238E27FC236}">
                <a16:creationId xmlns:a16="http://schemas.microsoft.com/office/drawing/2014/main" id="{4DD7321A-E698-3370-F554-CBD300E6AD7F}"/>
              </a:ext>
            </a:extLst>
          </p:cNvPr>
          <p:cNvSpPr/>
          <p:nvPr/>
        </p:nvSpPr>
        <p:spPr>
          <a:xfrm>
            <a:off x="7434858" y="3187834"/>
            <a:ext cx="6530102" cy="2697480"/>
          </a:xfrm>
          <a:prstGeom prst="roundRect">
            <a:avLst>
              <a:gd name="adj" fmla="val 6389"/>
            </a:avLst>
          </a:prstGeom>
          <a:solidFill>
            <a:srgbClr val="F20374">
              <a:alpha val="95000"/>
            </a:srgbClr>
          </a:solidFill>
          <a:ln/>
        </p:spPr>
        <p:txBody>
          <a:bodyPr/>
          <a:lstStyle/>
          <a:p>
            <a:endParaRPr lang="en-US"/>
          </a:p>
        </p:txBody>
      </p:sp>
      <p:sp>
        <p:nvSpPr>
          <p:cNvPr id="2" name="Text 0"/>
          <p:cNvSpPr/>
          <p:nvPr/>
        </p:nvSpPr>
        <p:spPr>
          <a:xfrm>
            <a:off x="837724" y="1242107"/>
            <a:ext cx="5632490"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Mục Tiêu và Ý Nghĩa</a:t>
            </a:r>
            <a:endParaRPr lang="en-US" sz="4400" dirty="0"/>
          </a:p>
        </p:txBody>
      </p:sp>
      <p:sp>
        <p:nvSpPr>
          <p:cNvPr id="3" name="Shape 1"/>
          <p:cNvSpPr/>
          <p:nvPr/>
        </p:nvSpPr>
        <p:spPr>
          <a:xfrm>
            <a:off x="485538" y="3213854"/>
            <a:ext cx="6530102" cy="2697480"/>
          </a:xfrm>
          <a:prstGeom prst="roundRect">
            <a:avLst>
              <a:gd name="adj" fmla="val 6389"/>
            </a:avLst>
          </a:prstGeom>
          <a:solidFill>
            <a:srgbClr val="F20374">
              <a:alpha val="95000"/>
            </a:srgbClr>
          </a:solidFill>
          <a:ln/>
        </p:spPr>
        <p:txBody>
          <a:bodyPr/>
          <a:lstStyle/>
          <a:p>
            <a:endParaRPr lang="en-US"/>
          </a:p>
        </p:txBody>
      </p:sp>
      <p:sp>
        <p:nvSpPr>
          <p:cNvPr id="4" name="Text 2"/>
          <p:cNvSpPr/>
          <p:nvPr/>
        </p:nvSpPr>
        <p:spPr>
          <a:xfrm>
            <a:off x="904756" y="3536871"/>
            <a:ext cx="2816185" cy="351949"/>
          </a:xfrm>
          <a:prstGeom prst="rect">
            <a:avLst/>
          </a:prstGeom>
          <a:noFill/>
          <a:ln/>
        </p:spPr>
        <p:txBody>
          <a:bodyPr wrap="none" lIns="0" tIns="0" rIns="0" bIns="0" rtlCol="0" anchor="t"/>
          <a:lstStyle/>
          <a:p>
            <a:pPr marL="0" indent="0" algn="l">
              <a:lnSpc>
                <a:spcPts val="2750"/>
              </a:lnSpc>
              <a:buNone/>
            </a:pPr>
            <a:r>
              <a:rPr lang="en-US" sz="2200" b="1" dirty="0">
                <a:solidFill>
                  <a:schemeClr val="bg1"/>
                </a:solidFill>
                <a:latin typeface="Overpass Bold" pitchFamily="34" charset="0"/>
                <a:ea typeface="Overpass Bold" pitchFamily="34" charset="-122"/>
                <a:cs typeface="Overpass Bold" pitchFamily="34" charset="-120"/>
              </a:rPr>
              <a:t>Mục Tiêu</a:t>
            </a:r>
            <a:endParaRPr lang="en-US" sz="2200" dirty="0">
              <a:solidFill>
                <a:schemeClr val="bg1"/>
              </a:solidFill>
            </a:endParaRPr>
          </a:p>
        </p:txBody>
      </p:sp>
      <p:sp>
        <p:nvSpPr>
          <p:cNvPr id="5" name="Text 3"/>
          <p:cNvSpPr/>
          <p:nvPr/>
        </p:nvSpPr>
        <p:spPr>
          <a:xfrm>
            <a:off x="904756" y="4128135"/>
            <a:ext cx="6051471" cy="1783199"/>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chemeClr val="bg1"/>
                </a:solidFill>
                <a:latin typeface="Overpass" pitchFamily="34" charset="0"/>
                <a:ea typeface="Overpass" pitchFamily="34" charset="-122"/>
                <a:cs typeface="Overpass" pitchFamily="34" charset="-120"/>
              </a:rPr>
              <a:t>Xây dựng mô hình KNN để phân loại hoa Iris</a:t>
            </a:r>
            <a:endParaRPr lang="en-US" sz="1850" dirty="0">
              <a:solidFill>
                <a:schemeClr val="bg1"/>
              </a:solidFill>
            </a:endParaRPr>
          </a:p>
          <a:p>
            <a:pPr marL="342900" indent="-342900" algn="l">
              <a:lnSpc>
                <a:spcPts val="3000"/>
              </a:lnSpc>
              <a:buSzPct val="100000"/>
              <a:buChar char="•"/>
            </a:pPr>
            <a:r>
              <a:rPr lang="en-US" sz="1850" dirty="0">
                <a:solidFill>
                  <a:schemeClr val="bg1"/>
                </a:solidFill>
                <a:latin typeface="Overpass" pitchFamily="34" charset="0"/>
                <a:ea typeface="Overpass" pitchFamily="34" charset="-122"/>
                <a:cs typeface="Overpass" pitchFamily="34" charset="-120"/>
              </a:rPr>
              <a:t>Xử lý và chuẩn hóa dữ liệu đầu vào</a:t>
            </a:r>
            <a:endParaRPr lang="en-US" sz="1850" dirty="0">
              <a:solidFill>
                <a:schemeClr val="bg1"/>
              </a:solidFill>
            </a:endParaRPr>
          </a:p>
          <a:p>
            <a:pPr marL="342900" indent="-342900" algn="l">
              <a:lnSpc>
                <a:spcPts val="3000"/>
              </a:lnSpc>
              <a:buSzPct val="100000"/>
              <a:buChar char="•"/>
            </a:pPr>
            <a:r>
              <a:rPr lang="en-US" sz="1850" dirty="0">
                <a:solidFill>
                  <a:schemeClr val="bg1"/>
                </a:solidFill>
                <a:latin typeface="Overpass" pitchFamily="34" charset="0"/>
                <a:ea typeface="Overpass" pitchFamily="34" charset="-122"/>
                <a:cs typeface="Overpass" pitchFamily="34" charset="-120"/>
              </a:rPr>
              <a:t>Huấn luyện và đánh giá mô hình</a:t>
            </a:r>
            <a:endParaRPr lang="en-US" sz="1850" dirty="0">
              <a:solidFill>
                <a:schemeClr val="bg1"/>
              </a:solidFill>
            </a:endParaRPr>
          </a:p>
          <a:p>
            <a:pPr marL="342900" indent="-342900" algn="l">
              <a:lnSpc>
                <a:spcPts val="3000"/>
              </a:lnSpc>
              <a:buSzPct val="100000"/>
              <a:buChar char="•"/>
            </a:pPr>
            <a:r>
              <a:rPr lang="en-US" sz="1850" dirty="0">
                <a:solidFill>
                  <a:schemeClr val="bg1"/>
                </a:solidFill>
                <a:latin typeface="Overpass" pitchFamily="34" charset="0"/>
                <a:ea typeface="Overpass" pitchFamily="34" charset="-122"/>
                <a:cs typeface="Overpass" pitchFamily="34" charset="-120"/>
              </a:rPr>
              <a:t>Triển khai thành ứng dụng web dự đoán</a:t>
            </a:r>
            <a:endParaRPr lang="en-US" sz="1850" dirty="0">
              <a:solidFill>
                <a:schemeClr val="bg1"/>
              </a:solidFill>
            </a:endParaRPr>
          </a:p>
        </p:txBody>
      </p:sp>
      <p:sp>
        <p:nvSpPr>
          <p:cNvPr id="6" name="Text 4"/>
          <p:cNvSpPr/>
          <p:nvPr/>
        </p:nvSpPr>
        <p:spPr>
          <a:xfrm>
            <a:off x="7614761" y="3536871"/>
            <a:ext cx="2816185" cy="351949"/>
          </a:xfrm>
          <a:prstGeom prst="rect">
            <a:avLst/>
          </a:prstGeom>
          <a:noFill/>
          <a:ln/>
        </p:spPr>
        <p:txBody>
          <a:bodyPr wrap="none" lIns="0" tIns="0" rIns="0" bIns="0" rtlCol="0" anchor="t"/>
          <a:lstStyle/>
          <a:p>
            <a:pPr marL="0" indent="0" algn="l">
              <a:lnSpc>
                <a:spcPts val="2750"/>
              </a:lnSpc>
              <a:buNone/>
            </a:pPr>
            <a:r>
              <a:rPr lang="en-US" sz="2200" b="1" dirty="0">
                <a:solidFill>
                  <a:schemeClr val="bg1"/>
                </a:solidFill>
                <a:latin typeface="Overpass Bold" pitchFamily="34" charset="0"/>
                <a:ea typeface="Overpass Bold" pitchFamily="34" charset="-122"/>
                <a:cs typeface="Overpass Bold" pitchFamily="34" charset="-120"/>
              </a:rPr>
              <a:t>Ý Nghĩa</a:t>
            </a:r>
            <a:endParaRPr lang="en-US" sz="2200" dirty="0">
              <a:solidFill>
                <a:schemeClr val="bg1"/>
              </a:solidFill>
            </a:endParaRPr>
          </a:p>
        </p:txBody>
      </p:sp>
      <p:sp>
        <p:nvSpPr>
          <p:cNvPr id="7" name="Text 5"/>
          <p:cNvSpPr/>
          <p:nvPr/>
        </p:nvSpPr>
        <p:spPr>
          <a:xfrm>
            <a:off x="7614761" y="4128135"/>
            <a:ext cx="6185535" cy="1316474"/>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chemeClr val="bg1"/>
                </a:solidFill>
                <a:latin typeface="Overpass" pitchFamily="34" charset="0"/>
                <a:ea typeface="Overpass" pitchFamily="34" charset="-122"/>
                <a:cs typeface="Overpass" pitchFamily="34" charset="-120"/>
              </a:rPr>
              <a:t>Hiểu quy trình xây dựng hệ thống học máy</a:t>
            </a:r>
            <a:endParaRPr lang="en-US" sz="1850" dirty="0">
              <a:solidFill>
                <a:schemeClr val="bg1"/>
              </a:solidFill>
            </a:endParaRPr>
          </a:p>
          <a:p>
            <a:pPr marL="342900" indent="-342900" algn="l">
              <a:lnSpc>
                <a:spcPts val="3000"/>
              </a:lnSpc>
              <a:buSzPct val="100000"/>
              <a:buChar char="•"/>
            </a:pPr>
            <a:r>
              <a:rPr lang="en-US" sz="1850" dirty="0">
                <a:solidFill>
                  <a:schemeClr val="bg1"/>
                </a:solidFill>
                <a:latin typeface="Overpass" pitchFamily="34" charset="0"/>
                <a:ea typeface="Overpass" pitchFamily="34" charset="-122"/>
                <a:cs typeface="Overpass" pitchFamily="34" charset="-120"/>
              </a:rPr>
              <a:t>Áp dụng lý thuyết vào bài toán thực tế</a:t>
            </a:r>
            <a:endParaRPr lang="en-US" sz="1850" dirty="0">
              <a:solidFill>
                <a:schemeClr val="bg1"/>
              </a:solidFill>
            </a:endParaRPr>
          </a:p>
          <a:p>
            <a:pPr marL="342900" indent="-342900" algn="l">
              <a:lnSpc>
                <a:spcPts val="3000"/>
              </a:lnSpc>
              <a:buSzPct val="100000"/>
              <a:buChar char="•"/>
            </a:pPr>
            <a:r>
              <a:rPr lang="en-US" sz="1850" dirty="0">
                <a:solidFill>
                  <a:schemeClr val="bg1"/>
                </a:solidFill>
                <a:latin typeface="Overpass" pitchFamily="34" charset="0"/>
                <a:ea typeface="Overpass" pitchFamily="34" charset="-122"/>
                <a:cs typeface="Overpass" pitchFamily="34" charset="-120"/>
              </a:rPr>
              <a:t>Làm nền tảng phát triển các ứng dụng AI sau này</a:t>
            </a:r>
            <a:endParaRPr lang="en-US" sz="1850" dirty="0">
              <a:solidFill>
                <a:schemeClr val="bg1"/>
              </a:solidFill>
            </a:endParaRPr>
          </a:p>
        </p:txBody>
      </p:sp>
      <p:pic>
        <p:nvPicPr>
          <p:cNvPr id="8" name="Picture 7">
            <a:extLst>
              <a:ext uri="{FF2B5EF4-FFF2-40B4-BE49-F238E27FC236}">
                <a16:creationId xmlns:a16="http://schemas.microsoft.com/office/drawing/2014/main" id="{B22B33D9-66FF-D0A6-0F61-CB77AA2A8AC3}"/>
              </a:ext>
            </a:extLst>
          </p:cNvPr>
          <p:cNvPicPr>
            <a:picLocks noChangeAspect="1"/>
          </p:cNvPicPr>
          <p:nvPr/>
        </p:nvPicPr>
        <p:blipFill>
          <a:blip r:embed="rId3"/>
          <a:stretch>
            <a:fillRect/>
          </a:stretch>
        </p:blipFill>
        <p:spPr>
          <a:xfrm>
            <a:off x="12551928" y="7716644"/>
            <a:ext cx="2078472" cy="4450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079659"/>
            <a:ext cx="8249841"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Quy Trình Phát Triển Ứng Dụng</a:t>
            </a:r>
            <a:endParaRPr lang="en-US" sz="4400" dirty="0"/>
          </a:p>
        </p:txBody>
      </p:sp>
      <p:sp>
        <p:nvSpPr>
          <p:cNvPr id="3" name="Text 1"/>
          <p:cNvSpPr/>
          <p:nvPr/>
        </p:nvSpPr>
        <p:spPr>
          <a:xfrm>
            <a:off x="837724" y="2262426"/>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Quy trình gồm 5 bước từ thu thập dữ liệu đến triển khai ứng dụng web hoàn chỉnh.</a:t>
            </a:r>
            <a:endParaRPr lang="en-US" sz="1850" dirty="0"/>
          </a:p>
        </p:txBody>
      </p:sp>
      <p:sp>
        <p:nvSpPr>
          <p:cNvPr id="4" name="Text 2"/>
          <p:cNvSpPr/>
          <p:nvPr/>
        </p:nvSpPr>
        <p:spPr>
          <a:xfrm>
            <a:off x="837724" y="2914650"/>
            <a:ext cx="478750" cy="29920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Light" pitchFamily="34" charset="0"/>
                <a:ea typeface="Overpass Light" pitchFamily="34" charset="-122"/>
                <a:cs typeface="Overpass Light" pitchFamily="34" charset="-120"/>
              </a:rPr>
              <a:t>01</a:t>
            </a:r>
            <a:endParaRPr lang="en-US" sz="1850" dirty="0"/>
          </a:p>
        </p:txBody>
      </p:sp>
      <p:sp>
        <p:nvSpPr>
          <p:cNvPr id="5" name="Shape 3"/>
          <p:cNvSpPr/>
          <p:nvPr/>
        </p:nvSpPr>
        <p:spPr>
          <a:xfrm>
            <a:off x="837724" y="3291007"/>
            <a:ext cx="4158734" cy="30480"/>
          </a:xfrm>
          <a:prstGeom prst="rect">
            <a:avLst/>
          </a:prstGeom>
          <a:solidFill>
            <a:srgbClr val="F20374"/>
          </a:solidFill>
          <a:ln/>
        </p:spPr>
        <p:txBody>
          <a:bodyPr/>
          <a:lstStyle/>
          <a:p>
            <a:endParaRPr lang="en-US"/>
          </a:p>
        </p:txBody>
      </p:sp>
      <p:sp>
        <p:nvSpPr>
          <p:cNvPr id="6" name="Text 4"/>
          <p:cNvSpPr/>
          <p:nvPr/>
        </p:nvSpPr>
        <p:spPr>
          <a:xfrm>
            <a:off x="837724" y="3471624"/>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Thu thập dữ liệu</a:t>
            </a:r>
            <a:endParaRPr lang="en-US" sz="2200" dirty="0"/>
          </a:p>
        </p:txBody>
      </p:sp>
      <p:sp>
        <p:nvSpPr>
          <p:cNvPr id="7" name="Text 5"/>
          <p:cNvSpPr/>
          <p:nvPr/>
        </p:nvSpPr>
        <p:spPr>
          <a:xfrm>
            <a:off x="837724" y="3967163"/>
            <a:ext cx="4158734" cy="766048"/>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Tải 150 mẫu hoa Iris với 4 đặc trưng từ file CSV.</a:t>
            </a:r>
            <a:endParaRPr lang="en-US" sz="1850" dirty="0"/>
          </a:p>
        </p:txBody>
      </p:sp>
      <p:sp>
        <p:nvSpPr>
          <p:cNvPr id="8" name="Text 6"/>
          <p:cNvSpPr/>
          <p:nvPr/>
        </p:nvSpPr>
        <p:spPr>
          <a:xfrm>
            <a:off x="5235773" y="2914650"/>
            <a:ext cx="478750" cy="299204"/>
          </a:xfrm>
          <a:prstGeom prst="rect">
            <a:avLst/>
          </a:prstGeom>
          <a:noFill/>
          <a:ln/>
        </p:spPr>
        <p:txBody>
          <a:bodyPr wrap="none" lIns="0" tIns="0" rIns="0" bIns="0" rtlCol="0" anchor="t"/>
          <a:lstStyle/>
          <a:p>
            <a:pPr marL="0" indent="0" algn="l">
              <a:lnSpc>
                <a:spcPts val="3000"/>
              </a:lnSpc>
              <a:buNone/>
            </a:pPr>
            <a:r>
              <a:rPr lang="vi-VN" sz="1850">
                <a:solidFill>
                  <a:srgbClr val="E5E0DF"/>
                </a:solidFill>
                <a:ea typeface="Overpass Light" pitchFamily="34" charset="-122"/>
              </a:rPr>
              <a:t>02</a:t>
            </a:r>
            <a:endParaRPr lang="en-US" sz="1850" dirty="0"/>
          </a:p>
        </p:txBody>
      </p:sp>
      <p:sp>
        <p:nvSpPr>
          <p:cNvPr id="9" name="Shape 7"/>
          <p:cNvSpPr/>
          <p:nvPr/>
        </p:nvSpPr>
        <p:spPr>
          <a:xfrm>
            <a:off x="5235773" y="3291007"/>
            <a:ext cx="4158734" cy="30480"/>
          </a:xfrm>
          <a:prstGeom prst="rect">
            <a:avLst/>
          </a:prstGeom>
          <a:solidFill>
            <a:srgbClr val="F20374"/>
          </a:solidFill>
          <a:ln/>
        </p:spPr>
        <p:txBody>
          <a:bodyPr/>
          <a:lstStyle/>
          <a:p>
            <a:endParaRPr lang="en-US"/>
          </a:p>
        </p:txBody>
      </p:sp>
      <p:sp>
        <p:nvSpPr>
          <p:cNvPr id="10" name="Text 8"/>
          <p:cNvSpPr/>
          <p:nvPr/>
        </p:nvSpPr>
        <p:spPr>
          <a:xfrm>
            <a:off x="5235773" y="3471624"/>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Tiền xử lý dữ liệu</a:t>
            </a:r>
            <a:endParaRPr lang="en-US" sz="2200" dirty="0"/>
          </a:p>
        </p:txBody>
      </p:sp>
      <p:sp>
        <p:nvSpPr>
          <p:cNvPr id="11" name="Text 9"/>
          <p:cNvSpPr/>
          <p:nvPr/>
        </p:nvSpPr>
        <p:spPr>
          <a:xfrm>
            <a:off x="5235773" y="3967163"/>
            <a:ext cx="4158734" cy="1149072"/>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Chuẩn hóa dữ liệu bằng StandardScaler để đảm bảo độ chính xác.</a:t>
            </a:r>
            <a:endParaRPr lang="en-US" sz="1850" dirty="0"/>
          </a:p>
        </p:txBody>
      </p:sp>
      <p:sp>
        <p:nvSpPr>
          <p:cNvPr id="12" name="Text 10"/>
          <p:cNvSpPr/>
          <p:nvPr/>
        </p:nvSpPr>
        <p:spPr>
          <a:xfrm>
            <a:off x="9633823" y="2914650"/>
            <a:ext cx="478750" cy="29920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Light" pitchFamily="34" charset="0"/>
                <a:ea typeface="Overpass Light" pitchFamily="34" charset="-122"/>
                <a:cs typeface="Overpass Light" pitchFamily="34" charset="-120"/>
              </a:rPr>
              <a:t>03</a:t>
            </a:r>
            <a:endParaRPr lang="en-US" sz="1850" dirty="0"/>
          </a:p>
        </p:txBody>
      </p:sp>
      <p:sp>
        <p:nvSpPr>
          <p:cNvPr id="13" name="Shape 11"/>
          <p:cNvSpPr/>
          <p:nvPr/>
        </p:nvSpPr>
        <p:spPr>
          <a:xfrm>
            <a:off x="9633823" y="3291007"/>
            <a:ext cx="4158853" cy="30480"/>
          </a:xfrm>
          <a:prstGeom prst="rect">
            <a:avLst/>
          </a:prstGeom>
          <a:solidFill>
            <a:srgbClr val="F20374"/>
          </a:solidFill>
          <a:ln/>
        </p:spPr>
        <p:txBody>
          <a:bodyPr/>
          <a:lstStyle/>
          <a:p>
            <a:endParaRPr lang="en-US"/>
          </a:p>
        </p:txBody>
      </p:sp>
      <p:sp>
        <p:nvSpPr>
          <p:cNvPr id="14" name="Text 12"/>
          <p:cNvSpPr/>
          <p:nvPr/>
        </p:nvSpPr>
        <p:spPr>
          <a:xfrm>
            <a:off x="9633823" y="3471624"/>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Huấn luyện mô hình</a:t>
            </a:r>
            <a:endParaRPr lang="en-US" sz="2200" dirty="0"/>
          </a:p>
        </p:txBody>
      </p:sp>
      <p:sp>
        <p:nvSpPr>
          <p:cNvPr id="15" name="Text 13"/>
          <p:cNvSpPr/>
          <p:nvPr/>
        </p:nvSpPr>
        <p:spPr>
          <a:xfrm>
            <a:off x="9633823" y="3967163"/>
            <a:ext cx="4158853" cy="766048"/>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Xây dựng mô hình KNN với K=5 trên tập huấn luyện.</a:t>
            </a:r>
            <a:endParaRPr lang="en-US" sz="1850" dirty="0"/>
          </a:p>
        </p:txBody>
      </p:sp>
      <p:sp>
        <p:nvSpPr>
          <p:cNvPr id="16" name="Text 14"/>
          <p:cNvSpPr/>
          <p:nvPr/>
        </p:nvSpPr>
        <p:spPr>
          <a:xfrm>
            <a:off x="837724" y="5534978"/>
            <a:ext cx="478750" cy="299204"/>
          </a:xfrm>
          <a:prstGeom prst="rect">
            <a:avLst/>
          </a:prstGeom>
          <a:noFill/>
          <a:ln/>
        </p:spPr>
        <p:txBody>
          <a:bodyPr wrap="none" lIns="0" tIns="0" rIns="0" bIns="0" rtlCol="0" anchor="t"/>
          <a:lstStyle/>
          <a:p>
            <a:pPr marL="0" indent="0" algn="l">
              <a:lnSpc>
                <a:spcPts val="3000"/>
              </a:lnSpc>
              <a:buNone/>
            </a:pPr>
            <a:r>
              <a:rPr lang="vi-VN" sz="1850">
                <a:solidFill>
                  <a:srgbClr val="E5E0DF"/>
                </a:solidFill>
                <a:ea typeface="Overpass Light" pitchFamily="34" charset="-122"/>
              </a:rPr>
              <a:t>04</a:t>
            </a:r>
            <a:endParaRPr lang="en-US" sz="1850" dirty="0"/>
          </a:p>
        </p:txBody>
      </p:sp>
      <p:sp>
        <p:nvSpPr>
          <p:cNvPr id="17" name="Shape 15"/>
          <p:cNvSpPr/>
          <p:nvPr/>
        </p:nvSpPr>
        <p:spPr>
          <a:xfrm>
            <a:off x="837724" y="5911334"/>
            <a:ext cx="6357818" cy="30480"/>
          </a:xfrm>
          <a:prstGeom prst="rect">
            <a:avLst/>
          </a:prstGeom>
          <a:solidFill>
            <a:srgbClr val="F20374"/>
          </a:solidFill>
          <a:ln/>
        </p:spPr>
        <p:txBody>
          <a:bodyPr/>
          <a:lstStyle/>
          <a:p>
            <a:endParaRPr lang="en-US"/>
          </a:p>
        </p:txBody>
      </p:sp>
      <p:sp>
        <p:nvSpPr>
          <p:cNvPr id="18" name="Text 16"/>
          <p:cNvSpPr/>
          <p:nvPr/>
        </p:nvSpPr>
        <p:spPr>
          <a:xfrm>
            <a:off x="837724" y="6091952"/>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Đánh giá mô hình</a:t>
            </a:r>
            <a:endParaRPr lang="en-US" sz="2200" dirty="0"/>
          </a:p>
        </p:txBody>
      </p:sp>
      <p:sp>
        <p:nvSpPr>
          <p:cNvPr id="19" name="Text 17"/>
          <p:cNvSpPr/>
          <p:nvPr/>
        </p:nvSpPr>
        <p:spPr>
          <a:xfrm>
            <a:off x="837724" y="6587490"/>
            <a:ext cx="6357818" cy="38302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Kiểm tra Accuracy và Confusion Matrix trên tập kiểm tra.</a:t>
            </a:r>
            <a:endParaRPr lang="en-US" sz="1850" dirty="0"/>
          </a:p>
        </p:txBody>
      </p:sp>
      <p:sp>
        <p:nvSpPr>
          <p:cNvPr id="20" name="Text 18"/>
          <p:cNvSpPr/>
          <p:nvPr/>
        </p:nvSpPr>
        <p:spPr>
          <a:xfrm>
            <a:off x="7434858" y="5534978"/>
            <a:ext cx="478750" cy="29920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Light" pitchFamily="34" charset="0"/>
                <a:ea typeface="Overpass Light" pitchFamily="34" charset="-122"/>
                <a:cs typeface="Overpass Light" pitchFamily="34" charset="-120"/>
              </a:rPr>
              <a:t>05</a:t>
            </a:r>
            <a:endParaRPr lang="en-US" sz="1850" dirty="0"/>
          </a:p>
        </p:txBody>
      </p:sp>
      <p:sp>
        <p:nvSpPr>
          <p:cNvPr id="21" name="Shape 19"/>
          <p:cNvSpPr/>
          <p:nvPr/>
        </p:nvSpPr>
        <p:spPr>
          <a:xfrm>
            <a:off x="7434858" y="5911334"/>
            <a:ext cx="6357818" cy="30480"/>
          </a:xfrm>
          <a:prstGeom prst="rect">
            <a:avLst/>
          </a:prstGeom>
          <a:solidFill>
            <a:srgbClr val="F20374"/>
          </a:solidFill>
          <a:ln/>
        </p:spPr>
        <p:txBody>
          <a:bodyPr/>
          <a:lstStyle/>
          <a:p>
            <a:endParaRPr lang="en-US"/>
          </a:p>
        </p:txBody>
      </p:sp>
      <p:sp>
        <p:nvSpPr>
          <p:cNvPr id="22" name="Text 20"/>
          <p:cNvSpPr/>
          <p:nvPr/>
        </p:nvSpPr>
        <p:spPr>
          <a:xfrm>
            <a:off x="7434858" y="6091952"/>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Triển khai ứng dụng</a:t>
            </a:r>
            <a:endParaRPr lang="en-US" sz="2200" dirty="0"/>
          </a:p>
        </p:txBody>
      </p:sp>
      <p:sp>
        <p:nvSpPr>
          <p:cNvPr id="23" name="Text 21"/>
          <p:cNvSpPr/>
          <p:nvPr/>
        </p:nvSpPr>
        <p:spPr>
          <a:xfrm>
            <a:off x="7434858" y="6587490"/>
            <a:ext cx="6357818" cy="38302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Tạo web app React + Flask để dự đoán loài hoa.</a:t>
            </a:r>
            <a:endParaRPr lang="en-US" sz="1850" dirty="0"/>
          </a:p>
        </p:txBody>
      </p:sp>
      <p:pic>
        <p:nvPicPr>
          <p:cNvPr id="24" name="Picture 23">
            <a:extLst>
              <a:ext uri="{FF2B5EF4-FFF2-40B4-BE49-F238E27FC236}">
                <a16:creationId xmlns:a16="http://schemas.microsoft.com/office/drawing/2014/main" id="{5B46C3EA-E331-89D5-ED74-CF7E626CC646}"/>
              </a:ext>
            </a:extLst>
          </p:cNvPr>
          <p:cNvPicPr>
            <a:picLocks noChangeAspect="1"/>
          </p:cNvPicPr>
          <p:nvPr/>
        </p:nvPicPr>
        <p:blipFill>
          <a:blip r:embed="rId3"/>
          <a:stretch>
            <a:fillRect/>
          </a:stretch>
        </p:blipFill>
        <p:spPr>
          <a:xfrm>
            <a:off x="12551928" y="7716644"/>
            <a:ext cx="2078472" cy="4450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814036"/>
            <a:ext cx="6774061"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Giới Thiệu Bộ Dữ Liệu Iris</a:t>
            </a:r>
            <a:endParaRPr lang="en-US" sz="4400" dirty="0"/>
          </a:p>
        </p:txBody>
      </p:sp>
      <p:pic>
        <p:nvPicPr>
          <p:cNvPr id="3" name="Image 0" descr="preencoded.png"/>
          <p:cNvPicPr>
            <a:picLocks noChangeAspect="1"/>
          </p:cNvPicPr>
          <p:nvPr/>
        </p:nvPicPr>
        <p:blipFill>
          <a:blip r:embed="rId3"/>
          <a:stretch>
            <a:fillRect/>
          </a:stretch>
        </p:blipFill>
        <p:spPr>
          <a:xfrm>
            <a:off x="837723" y="3146227"/>
            <a:ext cx="5322171" cy="1905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1"/>
          <p:cNvSpPr/>
          <p:nvPr/>
        </p:nvSpPr>
        <p:spPr>
          <a:xfrm>
            <a:off x="6925747" y="3207663"/>
            <a:ext cx="6874430" cy="766048"/>
          </a:xfrm>
          <a:prstGeom prst="rect">
            <a:avLst/>
          </a:prstGeom>
          <a:noFill/>
          <a:ln/>
        </p:spPr>
        <p:txBody>
          <a:bodyPr wrap="square" lIns="0" tIns="0" rIns="0" bIns="0" rtlCol="0" anchor="t"/>
          <a:lstStyle/>
          <a:p>
            <a:pPr marL="0" indent="0" algn="l">
              <a:lnSpc>
                <a:spcPts val="3000"/>
              </a:lnSpc>
              <a:buNone/>
            </a:pPr>
            <a:r>
              <a:rPr lang="en-US" sz="1850" dirty="0">
                <a:solidFill>
                  <a:schemeClr val="bg1"/>
                </a:solidFill>
                <a:latin typeface="Overpass" pitchFamily="34" charset="0"/>
                <a:ea typeface="Overpass" pitchFamily="34" charset="-122"/>
                <a:cs typeface="Overpass" pitchFamily="34" charset="-120"/>
              </a:rPr>
              <a:t>Bộ dữ liệu Iris gồm </a:t>
            </a:r>
            <a:r>
              <a:rPr lang="en-US" sz="1850" b="1" dirty="0">
                <a:solidFill>
                  <a:schemeClr val="bg1"/>
                </a:solidFill>
                <a:latin typeface="Overpass" pitchFamily="34" charset="0"/>
                <a:ea typeface="Overpass" pitchFamily="34" charset="-122"/>
                <a:cs typeface="Overpass" pitchFamily="34" charset="-120"/>
              </a:rPr>
              <a:t>150 mẫu</a:t>
            </a:r>
            <a:r>
              <a:rPr lang="en-US" sz="1850" dirty="0">
                <a:solidFill>
                  <a:schemeClr val="bg1"/>
                </a:solidFill>
                <a:latin typeface="Overpass" pitchFamily="34" charset="0"/>
                <a:ea typeface="Overpass" pitchFamily="34" charset="-122"/>
                <a:cs typeface="Overpass" pitchFamily="34" charset="-120"/>
              </a:rPr>
              <a:t>, chia đều cho 3 loài. Mỗi mẫu có </a:t>
            </a:r>
            <a:r>
              <a:rPr lang="en-US" sz="1850" b="1" dirty="0">
                <a:solidFill>
                  <a:schemeClr val="bg1"/>
                </a:solidFill>
                <a:latin typeface="Overpass" pitchFamily="34" charset="0"/>
                <a:ea typeface="Overpass" pitchFamily="34" charset="-122"/>
                <a:cs typeface="Overpass" pitchFamily="34" charset="-120"/>
              </a:rPr>
              <a:t>4 đặc trưng</a:t>
            </a:r>
            <a:r>
              <a:rPr lang="en-US" sz="1850" dirty="0">
                <a:solidFill>
                  <a:schemeClr val="bg1"/>
                </a:solidFill>
                <a:latin typeface="Overpass" pitchFamily="34" charset="0"/>
                <a:ea typeface="Overpass" pitchFamily="34" charset="-122"/>
                <a:cs typeface="Overpass" pitchFamily="34" charset="-120"/>
              </a:rPr>
              <a:t> đo lường hình thái hoa:</a:t>
            </a:r>
            <a:endParaRPr lang="en-US" sz="1850" dirty="0">
              <a:solidFill>
                <a:schemeClr val="bg1"/>
              </a:solidFill>
            </a:endParaRPr>
          </a:p>
        </p:txBody>
      </p:sp>
      <p:sp>
        <p:nvSpPr>
          <p:cNvPr id="5" name="Text 2"/>
          <p:cNvSpPr/>
          <p:nvPr/>
        </p:nvSpPr>
        <p:spPr>
          <a:xfrm>
            <a:off x="6925747" y="4167188"/>
            <a:ext cx="8216265" cy="383024"/>
          </a:xfrm>
          <a:prstGeom prst="rect">
            <a:avLst/>
          </a:prstGeom>
          <a:noFill/>
          <a:ln/>
        </p:spPr>
        <p:txBody>
          <a:bodyPr wrap="none" lIns="0" tIns="0" rIns="0" bIns="0" rtlCol="0" anchor="t"/>
          <a:lstStyle/>
          <a:p>
            <a:pPr marL="0" indent="0" algn="l">
              <a:lnSpc>
                <a:spcPts val="3000"/>
              </a:lnSpc>
              <a:buNone/>
            </a:pPr>
            <a:r>
              <a:rPr lang="en-US" sz="1850" dirty="0">
                <a:solidFill>
                  <a:schemeClr val="bg1"/>
                </a:solidFill>
                <a:latin typeface="Overpass" pitchFamily="34" charset="0"/>
                <a:ea typeface="Overpass" pitchFamily="34" charset="-122"/>
                <a:cs typeface="Overpass" pitchFamily="34" charset="-120"/>
              </a:rPr>
              <a:t>Ba lớp phân loại</a:t>
            </a:r>
            <a:r>
              <a:rPr lang="en-US" sz="1850" dirty="0">
                <a:solidFill>
                  <a:srgbClr val="E5E0DF"/>
                </a:solidFill>
                <a:latin typeface="Overpass" pitchFamily="34" charset="0"/>
                <a:ea typeface="Overpass" pitchFamily="34" charset="-122"/>
                <a:cs typeface="Overpass" pitchFamily="34" charset="-120"/>
              </a:rPr>
              <a:t>: </a:t>
            </a:r>
            <a:r>
              <a:rPr lang="en-US" sz="1850" b="1" dirty="0">
                <a:solidFill>
                  <a:srgbClr val="F20374"/>
                </a:solidFill>
                <a:latin typeface="Overpass" pitchFamily="34" charset="0"/>
                <a:ea typeface="Overpass" pitchFamily="34" charset="-122"/>
                <a:cs typeface="Overpass" pitchFamily="34" charset="-120"/>
              </a:rPr>
              <a:t>Setosa</a:t>
            </a:r>
            <a:r>
              <a:rPr lang="en-US" sz="1850" dirty="0">
                <a:solidFill>
                  <a:srgbClr val="E5E0DF"/>
                </a:solidFill>
                <a:latin typeface="Overpass" pitchFamily="34" charset="0"/>
                <a:ea typeface="Overpass" pitchFamily="34" charset="-122"/>
                <a:cs typeface="Overpass" pitchFamily="34" charset="-120"/>
              </a:rPr>
              <a:t>, </a:t>
            </a:r>
            <a:r>
              <a:rPr lang="en-US" sz="1850" b="1" dirty="0">
                <a:solidFill>
                  <a:srgbClr val="F20374"/>
                </a:solidFill>
                <a:latin typeface="Overpass" pitchFamily="34" charset="0"/>
                <a:ea typeface="Overpass" pitchFamily="34" charset="-122"/>
                <a:cs typeface="Overpass" pitchFamily="34" charset="-120"/>
              </a:rPr>
              <a:t>Versicolor</a:t>
            </a:r>
            <a:r>
              <a:rPr lang="en-US" sz="1850" dirty="0">
                <a:solidFill>
                  <a:srgbClr val="E5E0DF"/>
                </a:solidFill>
                <a:latin typeface="Overpass" pitchFamily="34" charset="0"/>
                <a:ea typeface="Overpass" pitchFamily="34" charset="-122"/>
                <a:cs typeface="Overpass" pitchFamily="34" charset="-120"/>
              </a:rPr>
              <a:t> và </a:t>
            </a:r>
            <a:r>
              <a:rPr lang="en-US" sz="1850" b="1" dirty="0">
                <a:solidFill>
                  <a:srgbClr val="F20374"/>
                </a:solidFill>
                <a:latin typeface="Overpass" pitchFamily="34" charset="0"/>
                <a:ea typeface="Overpass" pitchFamily="34" charset="-122"/>
                <a:cs typeface="Overpass" pitchFamily="34" charset="-120"/>
              </a:rPr>
              <a:t>Virginica</a:t>
            </a:r>
            <a:r>
              <a:rPr lang="en-US" sz="1850" dirty="0">
                <a:solidFill>
                  <a:srgbClr val="E5E0DF"/>
                </a:solidFill>
                <a:latin typeface="Overpass" pitchFamily="34" charset="0"/>
                <a:ea typeface="Overpass" pitchFamily="34" charset="-122"/>
                <a:cs typeface="Overpass" pitchFamily="34" charset="-120"/>
              </a:rPr>
              <a:t>.</a:t>
            </a:r>
            <a:endParaRPr lang="en-US" sz="1850" dirty="0"/>
          </a:p>
        </p:txBody>
      </p:sp>
      <p:sp>
        <p:nvSpPr>
          <p:cNvPr id="6" name="Shape 3"/>
          <p:cNvSpPr/>
          <p:nvPr/>
        </p:nvSpPr>
        <p:spPr>
          <a:xfrm>
            <a:off x="837724" y="5171956"/>
            <a:ext cx="3059192" cy="1243489"/>
          </a:xfrm>
          <a:prstGeom prst="roundRect">
            <a:avLst>
              <a:gd name="adj" fmla="val 8085"/>
            </a:avLst>
          </a:prstGeom>
          <a:solidFill>
            <a:srgbClr val="252222">
              <a:alpha val="95000"/>
            </a:srgbClr>
          </a:solidFill>
          <a:ln w="30480">
            <a:solidFill>
              <a:srgbClr val="971B55"/>
            </a:solidFill>
            <a:prstDash val="solid"/>
          </a:ln>
        </p:spPr>
        <p:txBody>
          <a:bodyPr/>
          <a:lstStyle/>
          <a:p>
            <a:endParaRPr lang="en-US"/>
          </a:p>
        </p:txBody>
      </p:sp>
      <p:sp>
        <p:nvSpPr>
          <p:cNvPr id="7" name="Text 4"/>
          <p:cNvSpPr/>
          <p:nvPr/>
        </p:nvSpPr>
        <p:spPr>
          <a:xfrm>
            <a:off x="1107519" y="5441752"/>
            <a:ext cx="2519601"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Chiều dài đài hoa</a:t>
            </a:r>
            <a:endParaRPr lang="en-US" sz="2200" dirty="0"/>
          </a:p>
        </p:txBody>
      </p:sp>
      <p:sp>
        <p:nvSpPr>
          <p:cNvPr id="8" name="Shape 5"/>
          <p:cNvSpPr/>
          <p:nvPr/>
        </p:nvSpPr>
        <p:spPr>
          <a:xfrm>
            <a:off x="4136231" y="5171956"/>
            <a:ext cx="3059311" cy="1243489"/>
          </a:xfrm>
          <a:prstGeom prst="roundRect">
            <a:avLst>
              <a:gd name="adj" fmla="val 8085"/>
            </a:avLst>
          </a:prstGeom>
          <a:solidFill>
            <a:srgbClr val="252222">
              <a:alpha val="95000"/>
            </a:srgbClr>
          </a:solidFill>
          <a:ln w="30480">
            <a:solidFill>
              <a:srgbClr val="971B55"/>
            </a:solidFill>
            <a:prstDash val="solid"/>
          </a:ln>
        </p:spPr>
        <p:txBody>
          <a:bodyPr/>
          <a:lstStyle/>
          <a:p>
            <a:endParaRPr lang="en-US"/>
          </a:p>
        </p:txBody>
      </p:sp>
      <p:sp>
        <p:nvSpPr>
          <p:cNvPr id="9" name="Text 6"/>
          <p:cNvSpPr/>
          <p:nvPr/>
        </p:nvSpPr>
        <p:spPr>
          <a:xfrm>
            <a:off x="4406027" y="5441752"/>
            <a:ext cx="2519720"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Chiều rộng đài hoa</a:t>
            </a:r>
            <a:endParaRPr lang="en-US" sz="2200" dirty="0"/>
          </a:p>
        </p:txBody>
      </p:sp>
      <p:sp>
        <p:nvSpPr>
          <p:cNvPr id="10" name="Shape 7"/>
          <p:cNvSpPr/>
          <p:nvPr/>
        </p:nvSpPr>
        <p:spPr>
          <a:xfrm>
            <a:off x="7434858" y="5171956"/>
            <a:ext cx="3059192" cy="1243489"/>
          </a:xfrm>
          <a:prstGeom prst="roundRect">
            <a:avLst>
              <a:gd name="adj" fmla="val 8085"/>
            </a:avLst>
          </a:prstGeom>
          <a:solidFill>
            <a:srgbClr val="252222">
              <a:alpha val="95000"/>
            </a:srgbClr>
          </a:solidFill>
          <a:ln w="30480">
            <a:solidFill>
              <a:srgbClr val="971B55"/>
            </a:solidFill>
            <a:prstDash val="solid"/>
          </a:ln>
        </p:spPr>
        <p:txBody>
          <a:bodyPr/>
          <a:lstStyle/>
          <a:p>
            <a:endParaRPr lang="en-US"/>
          </a:p>
        </p:txBody>
      </p:sp>
      <p:sp>
        <p:nvSpPr>
          <p:cNvPr id="11" name="Text 8"/>
          <p:cNvSpPr/>
          <p:nvPr/>
        </p:nvSpPr>
        <p:spPr>
          <a:xfrm>
            <a:off x="7704653" y="5441752"/>
            <a:ext cx="2519601"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Chiều dài cánh hoa</a:t>
            </a:r>
            <a:endParaRPr lang="en-US" sz="2200" dirty="0"/>
          </a:p>
        </p:txBody>
      </p:sp>
      <p:sp>
        <p:nvSpPr>
          <p:cNvPr id="12" name="Shape 9"/>
          <p:cNvSpPr/>
          <p:nvPr/>
        </p:nvSpPr>
        <p:spPr>
          <a:xfrm>
            <a:off x="10733365" y="5171956"/>
            <a:ext cx="3059311" cy="1243489"/>
          </a:xfrm>
          <a:prstGeom prst="roundRect">
            <a:avLst>
              <a:gd name="adj" fmla="val 8085"/>
            </a:avLst>
          </a:prstGeom>
          <a:solidFill>
            <a:srgbClr val="252222">
              <a:alpha val="95000"/>
            </a:srgbClr>
          </a:solidFill>
          <a:ln w="30480">
            <a:solidFill>
              <a:srgbClr val="971B55"/>
            </a:solidFill>
            <a:prstDash val="solid"/>
          </a:ln>
        </p:spPr>
        <p:txBody>
          <a:bodyPr/>
          <a:lstStyle/>
          <a:p>
            <a:endParaRPr lang="en-US"/>
          </a:p>
        </p:txBody>
      </p:sp>
      <p:sp>
        <p:nvSpPr>
          <p:cNvPr id="13" name="Text 10"/>
          <p:cNvSpPr/>
          <p:nvPr/>
        </p:nvSpPr>
        <p:spPr>
          <a:xfrm>
            <a:off x="11003160" y="5441752"/>
            <a:ext cx="2789515" cy="703898"/>
          </a:xfrm>
          <a:prstGeom prst="rect">
            <a:avLst/>
          </a:prstGeom>
          <a:noFill/>
          <a:ln/>
        </p:spPr>
        <p:txBody>
          <a:bodyPr wrap="squar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Chiều rộng cánh hoa</a:t>
            </a:r>
            <a:endParaRPr lang="en-US" sz="2200" dirty="0"/>
          </a:p>
        </p:txBody>
      </p:sp>
      <p:pic>
        <p:nvPicPr>
          <p:cNvPr id="14" name="Picture 13">
            <a:extLst>
              <a:ext uri="{FF2B5EF4-FFF2-40B4-BE49-F238E27FC236}">
                <a16:creationId xmlns:a16="http://schemas.microsoft.com/office/drawing/2014/main" id="{7C10AD1F-9C91-034E-5264-5E77A75476CC}"/>
              </a:ext>
            </a:extLst>
          </p:cNvPr>
          <p:cNvPicPr>
            <a:picLocks noChangeAspect="1"/>
          </p:cNvPicPr>
          <p:nvPr/>
        </p:nvPicPr>
        <p:blipFill>
          <a:blip r:embed="rId4"/>
          <a:stretch>
            <a:fillRect/>
          </a:stretch>
        </p:blipFill>
        <p:spPr>
          <a:xfrm>
            <a:off x="12551928" y="7716644"/>
            <a:ext cx="2078472" cy="4450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6EB6-3CCD-6050-1362-14F7455502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5AD625E-93E4-CC3A-D163-8AB3394D34FF}"/>
              </a:ext>
            </a:extLst>
          </p:cNvPr>
          <p:cNvSpPr/>
          <p:nvPr/>
        </p:nvSpPr>
        <p:spPr>
          <a:xfrm>
            <a:off x="837724" y="576251"/>
            <a:ext cx="6774061"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Giới Thiệu Bộ Dữ Liệu Iris</a:t>
            </a:r>
            <a:endParaRPr lang="en-US" sz="4400" dirty="0"/>
          </a:p>
        </p:txBody>
      </p:sp>
      <p:pic>
        <p:nvPicPr>
          <p:cNvPr id="3" name="Image 0" descr="preencoded.png">
            <a:extLst>
              <a:ext uri="{FF2B5EF4-FFF2-40B4-BE49-F238E27FC236}">
                <a16:creationId xmlns:a16="http://schemas.microsoft.com/office/drawing/2014/main" id="{3B35C104-231E-AA7C-D22A-44B76AA27DAE}"/>
              </a:ext>
            </a:extLst>
          </p:cNvPr>
          <p:cNvPicPr>
            <a:picLocks noChangeAspect="1"/>
          </p:cNvPicPr>
          <p:nvPr/>
        </p:nvPicPr>
        <p:blipFill>
          <a:blip r:embed="rId3"/>
          <a:stretch>
            <a:fillRect/>
          </a:stretch>
        </p:blipFill>
        <p:spPr>
          <a:xfrm>
            <a:off x="837723" y="1908442"/>
            <a:ext cx="5322171" cy="1905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1">
            <a:extLst>
              <a:ext uri="{FF2B5EF4-FFF2-40B4-BE49-F238E27FC236}">
                <a16:creationId xmlns:a16="http://schemas.microsoft.com/office/drawing/2014/main" id="{48E7F4CC-937E-3806-B7BD-EC3932E7CB25}"/>
              </a:ext>
            </a:extLst>
          </p:cNvPr>
          <p:cNvSpPr/>
          <p:nvPr/>
        </p:nvSpPr>
        <p:spPr>
          <a:xfrm>
            <a:off x="6925747" y="1969878"/>
            <a:ext cx="6874430" cy="766048"/>
          </a:xfrm>
          <a:prstGeom prst="rect">
            <a:avLst/>
          </a:prstGeom>
          <a:noFill/>
          <a:ln/>
        </p:spPr>
        <p:txBody>
          <a:bodyPr wrap="square" lIns="0" tIns="0" rIns="0" bIns="0" rtlCol="0" anchor="t"/>
          <a:lstStyle/>
          <a:p>
            <a:pPr marL="0" indent="0" algn="l">
              <a:lnSpc>
                <a:spcPts val="3000"/>
              </a:lnSpc>
              <a:buNone/>
            </a:pPr>
            <a:r>
              <a:rPr lang="en-US" sz="2400" dirty="0">
                <a:solidFill>
                  <a:schemeClr val="bg1"/>
                </a:solidFill>
                <a:latin typeface="Overpass" pitchFamily="34" charset="0"/>
                <a:ea typeface="Overpass" pitchFamily="34" charset="-122"/>
                <a:cs typeface="Overpass" pitchFamily="34" charset="-120"/>
              </a:rPr>
              <a:t>Bộ dữ liệu Iris gồm </a:t>
            </a:r>
            <a:r>
              <a:rPr lang="en-US" sz="2400" b="1" dirty="0">
                <a:solidFill>
                  <a:schemeClr val="bg1"/>
                </a:solidFill>
                <a:latin typeface="Overpass" pitchFamily="34" charset="0"/>
                <a:ea typeface="Overpass" pitchFamily="34" charset="-122"/>
                <a:cs typeface="Overpass" pitchFamily="34" charset="-120"/>
              </a:rPr>
              <a:t>150 mẫu</a:t>
            </a:r>
            <a:r>
              <a:rPr lang="en-US" sz="2400" dirty="0">
                <a:solidFill>
                  <a:schemeClr val="bg1"/>
                </a:solidFill>
                <a:latin typeface="Overpass" pitchFamily="34" charset="0"/>
                <a:ea typeface="Overpass" pitchFamily="34" charset="-122"/>
                <a:cs typeface="Overpass" pitchFamily="34" charset="-120"/>
              </a:rPr>
              <a:t>, chia đều cho 3 loài. Mỗi mẫu có </a:t>
            </a:r>
            <a:r>
              <a:rPr lang="en-US" sz="2400" b="1" dirty="0">
                <a:solidFill>
                  <a:schemeClr val="bg1"/>
                </a:solidFill>
                <a:latin typeface="Overpass" pitchFamily="34" charset="0"/>
                <a:ea typeface="Overpass" pitchFamily="34" charset="-122"/>
                <a:cs typeface="Overpass" pitchFamily="34" charset="-120"/>
              </a:rPr>
              <a:t>4 đặc trưng</a:t>
            </a:r>
            <a:r>
              <a:rPr lang="en-US" sz="2400" dirty="0">
                <a:solidFill>
                  <a:schemeClr val="bg1"/>
                </a:solidFill>
                <a:latin typeface="Overpass" pitchFamily="34" charset="0"/>
                <a:ea typeface="Overpass" pitchFamily="34" charset="-122"/>
                <a:cs typeface="Overpass" pitchFamily="34" charset="-120"/>
              </a:rPr>
              <a:t> đo lường hình thái </a:t>
            </a:r>
            <a:r>
              <a:rPr lang="en-US" sz="2400">
                <a:solidFill>
                  <a:schemeClr val="bg1"/>
                </a:solidFill>
                <a:latin typeface="Overpass" pitchFamily="34" charset="0"/>
                <a:ea typeface="Overpass" pitchFamily="34" charset="-122"/>
                <a:cs typeface="Overpass" pitchFamily="34" charset="-120"/>
              </a:rPr>
              <a:t>hoa:</a:t>
            </a:r>
            <a:r>
              <a:rPr lang="vi-VN" sz="2400">
                <a:solidFill>
                  <a:schemeClr val="bg1"/>
                </a:solidFill>
                <a:latin typeface="Overpass" pitchFamily="34" charset="0"/>
                <a:ea typeface="Overpass" pitchFamily="34" charset="-122"/>
                <a:cs typeface="Overpass" pitchFamily="34" charset="-120"/>
              </a:rPr>
              <a:t> </a:t>
            </a:r>
          </a:p>
          <a:p>
            <a:pPr marL="0" indent="0" algn="l">
              <a:lnSpc>
                <a:spcPts val="3000"/>
              </a:lnSpc>
              <a:buNone/>
            </a:pPr>
            <a:endParaRPr lang="en-US" sz="2400" dirty="0">
              <a:solidFill>
                <a:schemeClr val="bg1"/>
              </a:solidFill>
            </a:endParaRPr>
          </a:p>
        </p:txBody>
      </p:sp>
      <p:sp>
        <p:nvSpPr>
          <p:cNvPr id="5" name="Text 2">
            <a:extLst>
              <a:ext uri="{FF2B5EF4-FFF2-40B4-BE49-F238E27FC236}">
                <a16:creationId xmlns:a16="http://schemas.microsoft.com/office/drawing/2014/main" id="{63CBEA58-F570-66FC-A83C-B7A8F00692A8}"/>
              </a:ext>
            </a:extLst>
          </p:cNvPr>
          <p:cNvSpPr/>
          <p:nvPr/>
        </p:nvSpPr>
        <p:spPr>
          <a:xfrm>
            <a:off x="6925747" y="4320471"/>
            <a:ext cx="8216265" cy="383024"/>
          </a:xfrm>
          <a:prstGeom prst="rect">
            <a:avLst/>
          </a:prstGeom>
          <a:noFill/>
          <a:ln/>
        </p:spPr>
        <p:txBody>
          <a:bodyPr wrap="none" lIns="0" tIns="0" rIns="0" bIns="0" rtlCol="0" anchor="t"/>
          <a:lstStyle/>
          <a:p>
            <a:pPr marL="0" indent="0" algn="l">
              <a:lnSpc>
                <a:spcPts val="3000"/>
              </a:lnSpc>
              <a:buNone/>
            </a:pPr>
            <a:r>
              <a:rPr lang="en-US" sz="1850" dirty="0">
                <a:solidFill>
                  <a:schemeClr val="bg1"/>
                </a:solidFill>
                <a:latin typeface="Overpass" pitchFamily="34" charset="0"/>
                <a:ea typeface="Overpass" pitchFamily="34" charset="-122"/>
                <a:cs typeface="Overpass" pitchFamily="34" charset="-120"/>
              </a:rPr>
              <a:t>Ba lớp phân loại</a:t>
            </a:r>
            <a:r>
              <a:rPr lang="en-US" sz="1850" dirty="0">
                <a:solidFill>
                  <a:srgbClr val="E5E0DF"/>
                </a:solidFill>
                <a:latin typeface="Overpass" pitchFamily="34" charset="0"/>
                <a:ea typeface="Overpass" pitchFamily="34" charset="-122"/>
                <a:cs typeface="Overpass" pitchFamily="34" charset="-120"/>
              </a:rPr>
              <a:t>: </a:t>
            </a:r>
            <a:r>
              <a:rPr lang="en-US" sz="1850" b="1" dirty="0">
                <a:solidFill>
                  <a:srgbClr val="F20374"/>
                </a:solidFill>
                <a:latin typeface="Overpass" pitchFamily="34" charset="0"/>
                <a:ea typeface="Overpass" pitchFamily="34" charset="-122"/>
                <a:cs typeface="Overpass" pitchFamily="34" charset="-120"/>
              </a:rPr>
              <a:t>Setosa</a:t>
            </a:r>
            <a:r>
              <a:rPr lang="en-US" sz="1850" dirty="0">
                <a:solidFill>
                  <a:srgbClr val="E5E0DF"/>
                </a:solidFill>
                <a:latin typeface="Overpass" pitchFamily="34" charset="0"/>
                <a:ea typeface="Overpass" pitchFamily="34" charset="-122"/>
                <a:cs typeface="Overpass" pitchFamily="34" charset="-120"/>
              </a:rPr>
              <a:t>, </a:t>
            </a:r>
            <a:r>
              <a:rPr lang="en-US" sz="1850" b="1" dirty="0">
                <a:solidFill>
                  <a:srgbClr val="F20374"/>
                </a:solidFill>
                <a:latin typeface="Overpass" pitchFamily="34" charset="0"/>
                <a:ea typeface="Overpass" pitchFamily="34" charset="-122"/>
                <a:cs typeface="Overpass" pitchFamily="34" charset="-120"/>
              </a:rPr>
              <a:t>Versicolor</a:t>
            </a:r>
            <a:r>
              <a:rPr lang="en-US" sz="1850" dirty="0">
                <a:solidFill>
                  <a:srgbClr val="E5E0DF"/>
                </a:solidFill>
                <a:latin typeface="Overpass" pitchFamily="34" charset="0"/>
                <a:ea typeface="Overpass" pitchFamily="34" charset="-122"/>
                <a:cs typeface="Overpass" pitchFamily="34" charset="-120"/>
              </a:rPr>
              <a:t> và </a:t>
            </a:r>
            <a:r>
              <a:rPr lang="en-US" sz="1850" b="1" dirty="0">
                <a:solidFill>
                  <a:srgbClr val="F20374"/>
                </a:solidFill>
                <a:latin typeface="Overpass" pitchFamily="34" charset="0"/>
                <a:ea typeface="Overpass" pitchFamily="34" charset="-122"/>
                <a:cs typeface="Overpass" pitchFamily="34" charset="-120"/>
              </a:rPr>
              <a:t>Virginica</a:t>
            </a:r>
            <a:r>
              <a:rPr lang="en-US" sz="1850" dirty="0">
                <a:solidFill>
                  <a:srgbClr val="E5E0DF"/>
                </a:solidFill>
                <a:latin typeface="Overpass" pitchFamily="34" charset="0"/>
                <a:ea typeface="Overpass" pitchFamily="34" charset="-122"/>
                <a:cs typeface="Overpass" pitchFamily="34" charset="-120"/>
              </a:rPr>
              <a:t>.</a:t>
            </a:r>
            <a:endParaRPr lang="en-US" sz="1850" dirty="0"/>
          </a:p>
        </p:txBody>
      </p:sp>
      <p:sp>
        <p:nvSpPr>
          <p:cNvPr id="7" name="Text 4">
            <a:extLst>
              <a:ext uri="{FF2B5EF4-FFF2-40B4-BE49-F238E27FC236}">
                <a16:creationId xmlns:a16="http://schemas.microsoft.com/office/drawing/2014/main" id="{649C13B5-C1E2-9D95-4F54-72D6FE35B3F7}"/>
              </a:ext>
            </a:extLst>
          </p:cNvPr>
          <p:cNvSpPr/>
          <p:nvPr/>
        </p:nvSpPr>
        <p:spPr>
          <a:xfrm>
            <a:off x="6939686" y="2837797"/>
            <a:ext cx="6497534" cy="2404445"/>
          </a:xfrm>
          <a:prstGeom prst="rect">
            <a:avLst/>
          </a:prstGeom>
          <a:noFill/>
          <a:ln/>
        </p:spPr>
        <p:txBody>
          <a:bodyPr wrap="none" lIns="0" tIns="0" rIns="0" bIns="0" rtlCol="0" anchor="t"/>
          <a:lstStyle/>
          <a:p>
            <a:pPr marL="0" indent="0" algn="l">
              <a:lnSpc>
                <a:spcPts val="2750"/>
              </a:lnSpc>
              <a:buNone/>
            </a:pPr>
            <a:r>
              <a:rPr lang="en-US" sz="2000" b="1" dirty="0">
                <a:solidFill>
                  <a:srgbClr val="E5E0DF"/>
                </a:solidFill>
                <a:latin typeface="Overpass Bold" pitchFamily="34" charset="0"/>
                <a:ea typeface="Overpass Bold" pitchFamily="34" charset="-122"/>
                <a:cs typeface="Overpass Bold" pitchFamily="34" charset="-120"/>
              </a:rPr>
              <a:t>Chiều dài </a:t>
            </a:r>
            <a:r>
              <a:rPr lang="en-US" sz="2000" b="1">
                <a:solidFill>
                  <a:srgbClr val="E5E0DF"/>
                </a:solidFill>
                <a:latin typeface="Overpass Bold" pitchFamily="34" charset="0"/>
                <a:ea typeface="Overpass Bold" pitchFamily="34" charset="-122"/>
                <a:cs typeface="Overpass Bold" pitchFamily="34" charset="-120"/>
              </a:rPr>
              <a:t>đài hoa</a:t>
            </a:r>
            <a:endParaRPr lang="vi-VN" sz="2000" b="1">
              <a:solidFill>
                <a:srgbClr val="E5E0DF"/>
              </a:solidFill>
              <a:latin typeface="Overpass Bold" pitchFamily="34" charset="0"/>
              <a:ea typeface="Overpass Bold" pitchFamily="34" charset="-122"/>
              <a:cs typeface="Overpass Bold" pitchFamily="34" charset="-120"/>
            </a:endParaRPr>
          </a:p>
          <a:p>
            <a:pPr>
              <a:lnSpc>
                <a:spcPts val="2750"/>
              </a:lnSpc>
            </a:pPr>
            <a:r>
              <a:rPr lang="en-US" sz="2000" b="1">
                <a:solidFill>
                  <a:srgbClr val="E5E0DF"/>
                </a:solidFill>
                <a:latin typeface="Overpass Bold" pitchFamily="34" charset="0"/>
                <a:ea typeface="Overpass Bold" pitchFamily="34" charset="-122"/>
                <a:cs typeface="Overpass Bold" pitchFamily="34" charset="-120"/>
              </a:rPr>
              <a:t>Chiều rộng đài hoa</a:t>
            </a:r>
            <a:endParaRPr lang="vi-VN" sz="2000" b="1">
              <a:solidFill>
                <a:srgbClr val="E5E0DF"/>
              </a:solidFill>
              <a:latin typeface="Overpass Bold" pitchFamily="34" charset="0"/>
              <a:ea typeface="Overpass Bold" pitchFamily="34" charset="-122"/>
              <a:cs typeface="Overpass Bold" pitchFamily="34" charset="-120"/>
            </a:endParaRPr>
          </a:p>
          <a:p>
            <a:pPr>
              <a:lnSpc>
                <a:spcPts val="2750"/>
              </a:lnSpc>
            </a:pPr>
            <a:r>
              <a:rPr lang="en-US" sz="2000" b="1">
                <a:solidFill>
                  <a:srgbClr val="E5E0DF"/>
                </a:solidFill>
                <a:latin typeface="Overpass Bold" pitchFamily="34" charset="0"/>
                <a:ea typeface="Overpass Bold" pitchFamily="34" charset="-122"/>
                <a:cs typeface="Overpass Bold" pitchFamily="34" charset="-120"/>
              </a:rPr>
              <a:t>Chiều dài cánh hoa</a:t>
            </a:r>
            <a:endParaRPr lang="vi-VN" sz="2000" b="1">
              <a:solidFill>
                <a:srgbClr val="E5E0DF"/>
              </a:solidFill>
              <a:latin typeface="Overpass Bold" pitchFamily="34" charset="0"/>
              <a:ea typeface="Overpass Bold" pitchFamily="34" charset="-122"/>
              <a:cs typeface="Overpass Bold" pitchFamily="34" charset="-120"/>
            </a:endParaRPr>
          </a:p>
          <a:p>
            <a:pPr>
              <a:lnSpc>
                <a:spcPts val="2750"/>
              </a:lnSpc>
            </a:pPr>
            <a:r>
              <a:rPr lang="en-US" sz="2000" b="1">
                <a:solidFill>
                  <a:srgbClr val="E5E0DF"/>
                </a:solidFill>
                <a:latin typeface="Overpass Bold" pitchFamily="34" charset="0"/>
                <a:ea typeface="Overpass Bold" pitchFamily="34" charset="-122"/>
                <a:cs typeface="Overpass Bold" pitchFamily="34" charset="-120"/>
              </a:rPr>
              <a:t>Chiều rộng cánh hoa</a:t>
            </a:r>
            <a:endParaRPr lang="en-US" sz="2000"/>
          </a:p>
          <a:p>
            <a:pPr>
              <a:lnSpc>
                <a:spcPts val="2750"/>
              </a:lnSpc>
            </a:pPr>
            <a:endParaRPr lang="en-US" sz="2000"/>
          </a:p>
          <a:p>
            <a:pPr>
              <a:lnSpc>
                <a:spcPts val="2750"/>
              </a:lnSpc>
            </a:pPr>
            <a:endParaRPr lang="en-US" sz="2000"/>
          </a:p>
          <a:p>
            <a:pPr marL="0" indent="0" algn="l">
              <a:lnSpc>
                <a:spcPts val="2750"/>
              </a:lnSpc>
              <a:buNone/>
            </a:pPr>
            <a:endParaRPr lang="en-US" sz="2000" dirty="0"/>
          </a:p>
        </p:txBody>
      </p:sp>
      <p:pic>
        <p:nvPicPr>
          <p:cNvPr id="14" name="Picture 13">
            <a:extLst>
              <a:ext uri="{FF2B5EF4-FFF2-40B4-BE49-F238E27FC236}">
                <a16:creationId xmlns:a16="http://schemas.microsoft.com/office/drawing/2014/main" id="{1ECB0EEC-56CD-5C6F-CB58-6935B746FC50}"/>
              </a:ext>
            </a:extLst>
          </p:cNvPr>
          <p:cNvPicPr>
            <a:picLocks noChangeAspect="1"/>
          </p:cNvPicPr>
          <p:nvPr/>
        </p:nvPicPr>
        <p:blipFill>
          <a:blip r:embed="rId4"/>
          <a:stretch>
            <a:fillRect/>
          </a:stretch>
        </p:blipFill>
        <p:spPr>
          <a:xfrm>
            <a:off x="12551928" y="7716644"/>
            <a:ext cx="2078472" cy="445010"/>
          </a:xfrm>
          <a:prstGeom prst="rect">
            <a:avLst/>
          </a:prstGeom>
        </p:spPr>
      </p:pic>
      <p:pic>
        <p:nvPicPr>
          <p:cNvPr id="16" name="Picture 15">
            <a:extLst>
              <a:ext uri="{FF2B5EF4-FFF2-40B4-BE49-F238E27FC236}">
                <a16:creationId xmlns:a16="http://schemas.microsoft.com/office/drawing/2014/main" id="{850FACEB-9F8D-987B-3565-9BB13B3D88F4}"/>
              </a:ext>
            </a:extLst>
          </p:cNvPr>
          <p:cNvPicPr>
            <a:picLocks noChangeAspect="1"/>
          </p:cNvPicPr>
          <p:nvPr/>
        </p:nvPicPr>
        <p:blipFill>
          <a:blip r:embed="rId5"/>
          <a:stretch>
            <a:fillRect/>
          </a:stretch>
        </p:blipFill>
        <p:spPr>
          <a:xfrm>
            <a:off x="426761" y="4855431"/>
            <a:ext cx="8715375" cy="32480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47DC7417-5017-5826-A65F-AD6862921272}"/>
              </a:ext>
            </a:extLst>
          </p:cNvPr>
          <p:cNvPicPr>
            <a:picLocks noChangeAspect="1"/>
          </p:cNvPicPr>
          <p:nvPr/>
        </p:nvPicPr>
        <p:blipFill>
          <a:blip r:embed="rId6"/>
          <a:stretch>
            <a:fillRect/>
          </a:stretch>
        </p:blipFill>
        <p:spPr>
          <a:xfrm>
            <a:off x="9244741" y="4855431"/>
            <a:ext cx="5101695" cy="32480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78022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54395" y="402949"/>
            <a:ext cx="5632490"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Phân Tích Dữ Liệu</a:t>
            </a:r>
            <a:endParaRPr lang="en-US" sz="4400" dirty="0"/>
          </a:p>
        </p:txBody>
      </p:sp>
      <p:pic>
        <p:nvPicPr>
          <p:cNvPr id="14" name="Picture 13">
            <a:extLst>
              <a:ext uri="{FF2B5EF4-FFF2-40B4-BE49-F238E27FC236}">
                <a16:creationId xmlns:a16="http://schemas.microsoft.com/office/drawing/2014/main" id="{23B1D22F-7AAC-52F4-B705-296829F19B5E}"/>
              </a:ext>
            </a:extLst>
          </p:cNvPr>
          <p:cNvPicPr>
            <a:picLocks noChangeAspect="1"/>
          </p:cNvPicPr>
          <p:nvPr/>
        </p:nvPicPr>
        <p:blipFill>
          <a:blip r:embed="rId3"/>
          <a:stretch>
            <a:fillRect/>
          </a:stretch>
        </p:blipFill>
        <p:spPr>
          <a:xfrm>
            <a:off x="12551928" y="7716644"/>
            <a:ext cx="2078472" cy="445010"/>
          </a:xfrm>
          <a:prstGeom prst="rect">
            <a:avLst/>
          </a:prstGeom>
        </p:spPr>
      </p:pic>
      <p:pic>
        <p:nvPicPr>
          <p:cNvPr id="18" name="Picture 17">
            <a:extLst>
              <a:ext uri="{FF2B5EF4-FFF2-40B4-BE49-F238E27FC236}">
                <a16:creationId xmlns:a16="http://schemas.microsoft.com/office/drawing/2014/main" id="{7D7FD0A8-326C-5CAE-95F8-02D129B9B7B8}"/>
              </a:ext>
            </a:extLst>
          </p:cNvPr>
          <p:cNvPicPr>
            <a:picLocks noChangeAspect="1"/>
          </p:cNvPicPr>
          <p:nvPr/>
        </p:nvPicPr>
        <p:blipFill>
          <a:blip r:embed="rId4"/>
          <a:stretch>
            <a:fillRect/>
          </a:stretch>
        </p:blipFill>
        <p:spPr>
          <a:xfrm>
            <a:off x="849697" y="1616927"/>
            <a:ext cx="6010191" cy="5501844"/>
          </a:xfrm>
          <a:prstGeom prst="rect">
            <a:avLst/>
          </a:prstGeom>
        </p:spPr>
      </p:pic>
      <p:pic>
        <p:nvPicPr>
          <p:cNvPr id="20" name="Picture 19">
            <a:extLst>
              <a:ext uri="{FF2B5EF4-FFF2-40B4-BE49-F238E27FC236}">
                <a16:creationId xmlns:a16="http://schemas.microsoft.com/office/drawing/2014/main" id="{A70AE314-B939-214A-F977-B7F03754ABC4}"/>
              </a:ext>
            </a:extLst>
          </p:cNvPr>
          <p:cNvPicPr>
            <a:picLocks noChangeAspect="1"/>
          </p:cNvPicPr>
          <p:nvPr/>
        </p:nvPicPr>
        <p:blipFill>
          <a:blip r:embed="rId5"/>
          <a:stretch>
            <a:fillRect/>
          </a:stretch>
        </p:blipFill>
        <p:spPr>
          <a:xfrm>
            <a:off x="7143361" y="1613768"/>
            <a:ext cx="6219475" cy="5501844"/>
          </a:xfrm>
          <a:prstGeom prst="rect">
            <a:avLst/>
          </a:prstGeom>
        </p:spPr>
      </p:pic>
      <p:sp>
        <p:nvSpPr>
          <p:cNvPr id="21" name="TextBox 20">
            <a:extLst>
              <a:ext uri="{FF2B5EF4-FFF2-40B4-BE49-F238E27FC236}">
                <a16:creationId xmlns:a16="http://schemas.microsoft.com/office/drawing/2014/main" id="{FEC96D5D-6918-ADB8-7D14-9D33CECF1A13}"/>
              </a:ext>
            </a:extLst>
          </p:cNvPr>
          <p:cNvSpPr txBox="1"/>
          <p:nvPr/>
        </p:nvSpPr>
        <p:spPr>
          <a:xfrm>
            <a:off x="7660887" y="7347312"/>
            <a:ext cx="6110868" cy="369332"/>
          </a:xfrm>
          <a:prstGeom prst="rect">
            <a:avLst/>
          </a:prstGeom>
          <a:noFill/>
        </p:spPr>
        <p:txBody>
          <a:bodyPr wrap="square" rtlCol="0">
            <a:spAutoFit/>
          </a:bodyPr>
          <a:lstStyle/>
          <a:p>
            <a:r>
              <a:rPr lang="vi-VN">
                <a:solidFill>
                  <a:schemeClr val="bg1"/>
                </a:solidFill>
              </a:rPr>
              <a:t>Biểu đồ ma trận tương quan giữa các đặc trưng</a:t>
            </a:r>
            <a:endParaRPr lang="en-US">
              <a:solidFill>
                <a:schemeClr val="bg1"/>
              </a:solidFill>
            </a:endParaRPr>
          </a:p>
        </p:txBody>
      </p:sp>
      <p:sp>
        <p:nvSpPr>
          <p:cNvPr id="22" name="TextBox 21">
            <a:extLst>
              <a:ext uri="{FF2B5EF4-FFF2-40B4-BE49-F238E27FC236}">
                <a16:creationId xmlns:a16="http://schemas.microsoft.com/office/drawing/2014/main" id="{17A628A9-620B-9901-5389-50309A03887B}"/>
              </a:ext>
            </a:extLst>
          </p:cNvPr>
          <p:cNvSpPr txBox="1"/>
          <p:nvPr/>
        </p:nvSpPr>
        <p:spPr>
          <a:xfrm>
            <a:off x="1706136" y="7347312"/>
            <a:ext cx="6110868" cy="369332"/>
          </a:xfrm>
          <a:prstGeom prst="rect">
            <a:avLst/>
          </a:prstGeom>
          <a:noFill/>
        </p:spPr>
        <p:txBody>
          <a:bodyPr wrap="square" rtlCol="0">
            <a:spAutoFit/>
          </a:bodyPr>
          <a:lstStyle/>
          <a:p>
            <a:r>
              <a:rPr lang="vi-VN">
                <a:solidFill>
                  <a:schemeClr val="bg1"/>
                </a:solidFill>
              </a:rPr>
              <a:t>Biểu đồ phân tán giữa các cặp đặc trưng</a:t>
            </a:r>
            <a:endParaRPr lang="en-US">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9F036-9855-1E63-C117-2CE466B0C55E}"/>
            </a:ext>
          </a:extLst>
        </p:cNvPr>
        <p:cNvGrpSpPr/>
        <p:nvPr/>
      </p:nvGrpSpPr>
      <p:grpSpPr>
        <a:xfrm>
          <a:off x="0" y="0"/>
          <a:ext cx="0" cy="0"/>
          <a:chOff x="0" y="0"/>
          <a:chExt cx="0" cy="0"/>
        </a:xfrm>
      </p:grpSpPr>
      <p:sp>
        <p:nvSpPr>
          <p:cNvPr id="9" name="Shape 1">
            <a:extLst>
              <a:ext uri="{FF2B5EF4-FFF2-40B4-BE49-F238E27FC236}">
                <a16:creationId xmlns:a16="http://schemas.microsoft.com/office/drawing/2014/main" id="{71099EA7-938F-61ED-2B98-14DB2A47730D}"/>
              </a:ext>
            </a:extLst>
          </p:cNvPr>
          <p:cNvSpPr/>
          <p:nvPr/>
        </p:nvSpPr>
        <p:spPr>
          <a:xfrm>
            <a:off x="7981267" y="2124280"/>
            <a:ext cx="5310986" cy="2369661"/>
          </a:xfrm>
          <a:prstGeom prst="roundRect">
            <a:avLst>
              <a:gd name="adj" fmla="val 6389"/>
            </a:avLst>
          </a:prstGeom>
          <a:solidFill>
            <a:srgbClr val="F20374">
              <a:alpha val="95000"/>
            </a:srgbClr>
          </a:solidFill>
          <a:ln/>
        </p:spPr>
        <p:txBody>
          <a:bodyPr/>
          <a:lstStyle/>
          <a:p>
            <a:endParaRPr lang="en-US"/>
          </a:p>
        </p:txBody>
      </p:sp>
      <p:sp>
        <p:nvSpPr>
          <p:cNvPr id="2" name="Text 0">
            <a:extLst>
              <a:ext uri="{FF2B5EF4-FFF2-40B4-BE49-F238E27FC236}">
                <a16:creationId xmlns:a16="http://schemas.microsoft.com/office/drawing/2014/main" id="{ABB988B1-90C1-6C2F-8D21-BA844E48D656}"/>
              </a:ext>
            </a:extLst>
          </p:cNvPr>
          <p:cNvSpPr/>
          <p:nvPr/>
        </p:nvSpPr>
        <p:spPr>
          <a:xfrm>
            <a:off x="942737" y="782721"/>
            <a:ext cx="5632490" cy="704017"/>
          </a:xfrm>
          <a:prstGeom prst="rect">
            <a:avLst/>
          </a:prstGeom>
          <a:noFill/>
          <a:ln/>
        </p:spPr>
        <p:txBody>
          <a:bodyPr wrap="none" lIns="0" tIns="0" rIns="0" bIns="0" rtlCol="0" anchor="t"/>
          <a:lstStyle/>
          <a:p>
            <a:pPr marL="0" indent="0" algn="l">
              <a:lnSpc>
                <a:spcPts val="5500"/>
              </a:lnSpc>
              <a:buNone/>
            </a:pPr>
            <a:r>
              <a:rPr lang="vi-VN" sz="4400" b="1">
                <a:solidFill>
                  <a:srgbClr val="FFFFFF"/>
                </a:solidFill>
                <a:ea typeface="Overpass Bold" pitchFamily="34" charset="-122"/>
              </a:rPr>
              <a:t>Tiền xử lý dữ liệu</a:t>
            </a:r>
            <a:endParaRPr lang="en-US" sz="4400" b="1" dirty="0"/>
          </a:p>
        </p:txBody>
      </p:sp>
      <p:sp>
        <p:nvSpPr>
          <p:cNvPr id="3" name="Shape 1">
            <a:extLst>
              <a:ext uri="{FF2B5EF4-FFF2-40B4-BE49-F238E27FC236}">
                <a16:creationId xmlns:a16="http://schemas.microsoft.com/office/drawing/2014/main" id="{DB0BFD98-6AC2-7030-484B-C307DC7CA1E6}"/>
              </a:ext>
            </a:extLst>
          </p:cNvPr>
          <p:cNvSpPr/>
          <p:nvPr/>
        </p:nvSpPr>
        <p:spPr>
          <a:xfrm>
            <a:off x="942737" y="2124280"/>
            <a:ext cx="5134677" cy="2369661"/>
          </a:xfrm>
          <a:prstGeom prst="roundRect">
            <a:avLst>
              <a:gd name="adj" fmla="val 6389"/>
            </a:avLst>
          </a:prstGeom>
          <a:solidFill>
            <a:srgbClr val="F20374">
              <a:alpha val="95000"/>
            </a:srgbClr>
          </a:solidFill>
          <a:ln/>
        </p:spPr>
        <p:txBody>
          <a:bodyPr/>
          <a:lstStyle/>
          <a:p>
            <a:endParaRPr lang="en-US"/>
          </a:p>
        </p:txBody>
      </p:sp>
      <p:sp>
        <p:nvSpPr>
          <p:cNvPr id="4" name="Text 2">
            <a:extLst>
              <a:ext uri="{FF2B5EF4-FFF2-40B4-BE49-F238E27FC236}">
                <a16:creationId xmlns:a16="http://schemas.microsoft.com/office/drawing/2014/main" id="{81899595-287A-F6E9-5F1A-9D12F69840B6}"/>
              </a:ext>
            </a:extLst>
          </p:cNvPr>
          <p:cNvSpPr/>
          <p:nvPr/>
        </p:nvSpPr>
        <p:spPr>
          <a:xfrm>
            <a:off x="1361955" y="2439101"/>
            <a:ext cx="2816185" cy="351949"/>
          </a:xfrm>
          <a:prstGeom prst="rect">
            <a:avLst/>
          </a:prstGeom>
          <a:noFill/>
          <a:ln/>
        </p:spPr>
        <p:txBody>
          <a:bodyPr wrap="none" lIns="0" tIns="0" rIns="0" bIns="0" rtlCol="0" anchor="t"/>
          <a:lstStyle/>
          <a:p>
            <a:pPr marL="0" indent="0" algn="l">
              <a:lnSpc>
                <a:spcPts val="2750"/>
              </a:lnSpc>
              <a:buNone/>
            </a:pPr>
            <a:endParaRPr lang="en-US" sz="2200" dirty="0">
              <a:solidFill>
                <a:schemeClr val="bg1"/>
              </a:solidFill>
            </a:endParaRPr>
          </a:p>
        </p:txBody>
      </p:sp>
      <p:sp>
        <p:nvSpPr>
          <p:cNvPr id="5" name="Text 3">
            <a:extLst>
              <a:ext uri="{FF2B5EF4-FFF2-40B4-BE49-F238E27FC236}">
                <a16:creationId xmlns:a16="http://schemas.microsoft.com/office/drawing/2014/main" id="{EC4C9995-EFCB-45E1-AADC-C9923DBDE749}"/>
              </a:ext>
            </a:extLst>
          </p:cNvPr>
          <p:cNvSpPr/>
          <p:nvPr/>
        </p:nvSpPr>
        <p:spPr>
          <a:xfrm>
            <a:off x="1571622" y="2473317"/>
            <a:ext cx="6051471" cy="1783199"/>
          </a:xfrm>
          <a:prstGeom prst="rect">
            <a:avLst/>
          </a:prstGeom>
          <a:noFill/>
          <a:ln/>
        </p:spPr>
        <p:txBody>
          <a:bodyPr wrap="square" lIns="0" tIns="0" rIns="0" bIns="0" rtlCol="0" anchor="t"/>
          <a:lstStyle/>
          <a:p>
            <a:pPr algn="l">
              <a:lnSpc>
                <a:spcPts val="3000"/>
              </a:lnSpc>
              <a:buSzPct val="100000"/>
            </a:pPr>
            <a:r>
              <a:rPr lang="vi-VN" sz="1850">
                <a:solidFill>
                  <a:schemeClr val="bg1"/>
                </a:solidFill>
                <a:latin typeface="Overpass" pitchFamily="34" charset="0"/>
                <a:ea typeface="Overpass" pitchFamily="34" charset="-122"/>
                <a:cs typeface="Overpass" pitchFamily="34" charset="-120"/>
              </a:rPr>
              <a:t>1. Feature Selection</a:t>
            </a:r>
          </a:p>
          <a:p>
            <a:pPr marL="342900" indent="-342900" algn="l">
              <a:lnSpc>
                <a:spcPts val="3000"/>
              </a:lnSpc>
              <a:buSzPct val="100000"/>
              <a:buChar char="•"/>
            </a:pPr>
            <a:r>
              <a:rPr lang="vi-VN" sz="1850">
                <a:solidFill>
                  <a:schemeClr val="bg1"/>
                </a:solidFill>
                <a:latin typeface="Overpass" pitchFamily="34" charset="0"/>
                <a:ea typeface="Overpass" pitchFamily="34" charset="-122"/>
                <a:cs typeface="Overpass" pitchFamily="34" charset="-120"/>
              </a:rPr>
              <a:t>Bỏ cột Id</a:t>
            </a:r>
          </a:p>
          <a:p>
            <a:pPr marL="342900" indent="-342900" algn="l">
              <a:lnSpc>
                <a:spcPts val="3000"/>
              </a:lnSpc>
              <a:buSzPct val="100000"/>
              <a:buChar char="•"/>
            </a:pPr>
            <a:r>
              <a:rPr lang="vi-VN" sz="1850">
                <a:solidFill>
                  <a:schemeClr val="bg1"/>
                </a:solidFill>
                <a:latin typeface="Overpass" pitchFamily="34" charset="0"/>
                <a:ea typeface="Overpass" pitchFamily="34" charset="-122"/>
                <a:cs typeface="Overpass" pitchFamily="34" charset="-120"/>
              </a:rPr>
              <a:t>X: đặc trưng (Sepal, Petal)</a:t>
            </a:r>
          </a:p>
          <a:p>
            <a:pPr marL="342900" indent="-342900" algn="l">
              <a:lnSpc>
                <a:spcPts val="3000"/>
              </a:lnSpc>
              <a:buSzPct val="100000"/>
              <a:buChar char="•"/>
            </a:pPr>
            <a:r>
              <a:rPr lang="vi-VN" sz="1850">
                <a:solidFill>
                  <a:schemeClr val="bg1"/>
                </a:solidFill>
                <a:latin typeface="Overpass" pitchFamily="34" charset="0"/>
                <a:ea typeface="Overpass" pitchFamily="34" charset="-122"/>
                <a:cs typeface="Overpass" pitchFamily="34" charset="-120"/>
              </a:rPr>
              <a:t>y: nhãn loài hoa</a:t>
            </a:r>
            <a:endParaRPr lang="en-US" sz="1850" dirty="0">
              <a:solidFill>
                <a:schemeClr val="bg1"/>
              </a:solidFill>
            </a:endParaRPr>
          </a:p>
        </p:txBody>
      </p:sp>
      <p:sp>
        <p:nvSpPr>
          <p:cNvPr id="7" name="Text 5">
            <a:extLst>
              <a:ext uri="{FF2B5EF4-FFF2-40B4-BE49-F238E27FC236}">
                <a16:creationId xmlns:a16="http://schemas.microsoft.com/office/drawing/2014/main" id="{EE502C5C-BFDA-8EF2-AC70-6D3FCF805249}"/>
              </a:ext>
            </a:extLst>
          </p:cNvPr>
          <p:cNvSpPr/>
          <p:nvPr/>
        </p:nvSpPr>
        <p:spPr>
          <a:xfrm>
            <a:off x="8251978" y="2473317"/>
            <a:ext cx="5041873" cy="1316474"/>
          </a:xfrm>
          <a:prstGeom prst="rect">
            <a:avLst/>
          </a:prstGeom>
          <a:noFill/>
          <a:ln/>
        </p:spPr>
        <p:txBody>
          <a:bodyPr wrap="square" lIns="0" tIns="0" rIns="0" bIns="0" rtlCol="0" anchor="t"/>
          <a:lstStyle/>
          <a:p>
            <a:pPr algn="l">
              <a:lnSpc>
                <a:spcPts val="3000"/>
              </a:lnSpc>
              <a:buSzPct val="100000"/>
            </a:pPr>
            <a:r>
              <a:rPr lang="en-US" sz="1850">
                <a:solidFill>
                  <a:schemeClr val="bg1"/>
                </a:solidFill>
                <a:latin typeface="Overpass" pitchFamily="34" charset="0"/>
                <a:ea typeface="Overpass" pitchFamily="34" charset="-122"/>
                <a:cs typeface="Overpass" pitchFamily="34" charset="-120"/>
              </a:rPr>
              <a:t>2. Label Encoding</a:t>
            </a:r>
            <a:endParaRPr lang="vi-VN" sz="1850">
              <a:solidFill>
                <a:schemeClr val="bg1"/>
              </a:solidFill>
              <a:latin typeface="Overpass" pitchFamily="34" charset="0"/>
              <a:ea typeface="Overpass" pitchFamily="34" charset="-122"/>
              <a:cs typeface="Overpass" pitchFamily="34" charset="-120"/>
            </a:endParaRPr>
          </a:p>
          <a:p>
            <a:pPr marL="342900" indent="-342900" algn="l">
              <a:lnSpc>
                <a:spcPts val="3000"/>
              </a:lnSpc>
              <a:buSzPct val="100000"/>
              <a:buChar char="•"/>
            </a:pPr>
            <a:r>
              <a:rPr lang="en-US" sz="1850">
                <a:solidFill>
                  <a:schemeClr val="bg1"/>
                </a:solidFill>
                <a:latin typeface="Overpass" pitchFamily="34" charset="0"/>
                <a:ea typeface="Overpass" pitchFamily="34" charset="-122"/>
                <a:cs typeface="Overpass" pitchFamily="34" charset="-120"/>
              </a:rPr>
              <a:t>Setosa = 0 | Versicolor = 1 | Virginica = 2</a:t>
            </a:r>
            <a:endParaRPr lang="en-US" sz="1850" dirty="0">
              <a:solidFill>
                <a:schemeClr val="bg1"/>
              </a:solidFill>
            </a:endParaRPr>
          </a:p>
        </p:txBody>
      </p:sp>
      <p:pic>
        <p:nvPicPr>
          <p:cNvPr id="8" name="Picture 7">
            <a:extLst>
              <a:ext uri="{FF2B5EF4-FFF2-40B4-BE49-F238E27FC236}">
                <a16:creationId xmlns:a16="http://schemas.microsoft.com/office/drawing/2014/main" id="{6551813D-ADA7-0D5E-DE68-BD0D48B56D6A}"/>
              </a:ext>
            </a:extLst>
          </p:cNvPr>
          <p:cNvPicPr>
            <a:picLocks noChangeAspect="1"/>
          </p:cNvPicPr>
          <p:nvPr/>
        </p:nvPicPr>
        <p:blipFill>
          <a:blip r:embed="rId3"/>
          <a:stretch>
            <a:fillRect/>
          </a:stretch>
        </p:blipFill>
        <p:spPr>
          <a:xfrm>
            <a:off x="12551928" y="7716644"/>
            <a:ext cx="2078472" cy="445010"/>
          </a:xfrm>
          <a:prstGeom prst="rect">
            <a:avLst/>
          </a:prstGeom>
        </p:spPr>
      </p:pic>
      <p:sp>
        <p:nvSpPr>
          <p:cNvPr id="10" name="Shape 1">
            <a:extLst>
              <a:ext uri="{FF2B5EF4-FFF2-40B4-BE49-F238E27FC236}">
                <a16:creationId xmlns:a16="http://schemas.microsoft.com/office/drawing/2014/main" id="{3C4C242F-2AD7-E7B7-0AD7-46B064A9CBA3}"/>
              </a:ext>
            </a:extLst>
          </p:cNvPr>
          <p:cNvSpPr/>
          <p:nvPr/>
        </p:nvSpPr>
        <p:spPr>
          <a:xfrm>
            <a:off x="942737" y="5079615"/>
            <a:ext cx="5134677" cy="2458609"/>
          </a:xfrm>
          <a:prstGeom prst="roundRect">
            <a:avLst>
              <a:gd name="adj" fmla="val 6389"/>
            </a:avLst>
          </a:prstGeom>
          <a:solidFill>
            <a:srgbClr val="F20374">
              <a:alpha val="95000"/>
            </a:srgbClr>
          </a:solidFill>
          <a:ln/>
        </p:spPr>
        <p:txBody>
          <a:bodyPr/>
          <a:lstStyle/>
          <a:p>
            <a:endParaRPr lang="en-US"/>
          </a:p>
        </p:txBody>
      </p:sp>
      <p:sp>
        <p:nvSpPr>
          <p:cNvPr id="12" name="Text 5">
            <a:extLst>
              <a:ext uri="{FF2B5EF4-FFF2-40B4-BE49-F238E27FC236}">
                <a16:creationId xmlns:a16="http://schemas.microsoft.com/office/drawing/2014/main" id="{91765246-C486-5582-95A8-F5524D64D1D8}"/>
              </a:ext>
            </a:extLst>
          </p:cNvPr>
          <p:cNvSpPr/>
          <p:nvPr/>
        </p:nvSpPr>
        <p:spPr>
          <a:xfrm>
            <a:off x="1254864" y="5650682"/>
            <a:ext cx="6185535" cy="1316474"/>
          </a:xfrm>
          <a:prstGeom prst="rect">
            <a:avLst/>
          </a:prstGeom>
          <a:noFill/>
          <a:ln/>
        </p:spPr>
        <p:txBody>
          <a:bodyPr wrap="square" lIns="0" tIns="0" rIns="0" bIns="0" rtlCol="0" anchor="t"/>
          <a:lstStyle/>
          <a:p>
            <a:pPr algn="l">
              <a:lnSpc>
                <a:spcPts val="3000"/>
              </a:lnSpc>
              <a:buSzPct val="100000"/>
            </a:pPr>
            <a:r>
              <a:rPr lang="en-US" sz="1850">
                <a:solidFill>
                  <a:schemeClr val="bg1"/>
                </a:solidFill>
                <a:latin typeface="Overpass" pitchFamily="34" charset="0"/>
                <a:ea typeface="Overpass" pitchFamily="34" charset="-122"/>
                <a:cs typeface="Overpass" pitchFamily="34" charset="-120"/>
              </a:rPr>
              <a:t>3. Data Splitting</a:t>
            </a:r>
            <a:endParaRPr lang="vi-VN" sz="1850">
              <a:solidFill>
                <a:schemeClr val="bg1"/>
              </a:solidFill>
              <a:latin typeface="Overpass" pitchFamily="34" charset="0"/>
              <a:ea typeface="Overpass" pitchFamily="34" charset="-122"/>
              <a:cs typeface="Overpass" pitchFamily="34" charset="-120"/>
            </a:endParaRPr>
          </a:p>
          <a:p>
            <a:pPr marL="342900" indent="-342900" algn="l">
              <a:lnSpc>
                <a:spcPts val="3000"/>
              </a:lnSpc>
              <a:buSzPct val="100000"/>
              <a:buChar char="•"/>
            </a:pPr>
            <a:r>
              <a:rPr lang="en-US" sz="1850">
                <a:solidFill>
                  <a:schemeClr val="bg1"/>
                </a:solidFill>
                <a:latin typeface="Overpass" pitchFamily="34" charset="0"/>
                <a:ea typeface="Overpass" pitchFamily="34" charset="-122"/>
                <a:cs typeface="Overpass" pitchFamily="34" charset="-120"/>
              </a:rPr>
              <a:t>80% Train – 20% Testrandom_state = 42</a:t>
            </a:r>
            <a:endParaRPr lang="en-US" sz="1850" dirty="0">
              <a:solidFill>
                <a:schemeClr val="bg1"/>
              </a:solidFill>
            </a:endParaRPr>
          </a:p>
        </p:txBody>
      </p:sp>
      <p:sp>
        <p:nvSpPr>
          <p:cNvPr id="13" name="Shape 1">
            <a:extLst>
              <a:ext uri="{FF2B5EF4-FFF2-40B4-BE49-F238E27FC236}">
                <a16:creationId xmlns:a16="http://schemas.microsoft.com/office/drawing/2014/main" id="{991E0871-3F2B-D2DB-2E7B-B295BE418134}"/>
              </a:ext>
            </a:extLst>
          </p:cNvPr>
          <p:cNvSpPr/>
          <p:nvPr/>
        </p:nvSpPr>
        <p:spPr>
          <a:xfrm>
            <a:off x="7981267" y="5079615"/>
            <a:ext cx="5310986" cy="2458609"/>
          </a:xfrm>
          <a:prstGeom prst="roundRect">
            <a:avLst>
              <a:gd name="adj" fmla="val 6389"/>
            </a:avLst>
          </a:prstGeom>
          <a:solidFill>
            <a:srgbClr val="F20374">
              <a:alpha val="95000"/>
            </a:srgbClr>
          </a:solidFill>
          <a:ln/>
        </p:spPr>
        <p:txBody>
          <a:bodyPr/>
          <a:lstStyle/>
          <a:p>
            <a:endParaRPr lang="en-US"/>
          </a:p>
        </p:txBody>
      </p:sp>
      <p:sp>
        <p:nvSpPr>
          <p:cNvPr id="15" name="Text 5">
            <a:extLst>
              <a:ext uri="{FF2B5EF4-FFF2-40B4-BE49-F238E27FC236}">
                <a16:creationId xmlns:a16="http://schemas.microsoft.com/office/drawing/2014/main" id="{02F87377-EFB0-C793-9D92-FC7C57C39D43}"/>
              </a:ext>
            </a:extLst>
          </p:cNvPr>
          <p:cNvSpPr/>
          <p:nvPr/>
        </p:nvSpPr>
        <p:spPr>
          <a:xfrm>
            <a:off x="8161170" y="5650682"/>
            <a:ext cx="4847957" cy="1389106"/>
          </a:xfrm>
          <a:prstGeom prst="rect">
            <a:avLst/>
          </a:prstGeom>
          <a:noFill/>
          <a:ln/>
        </p:spPr>
        <p:txBody>
          <a:bodyPr wrap="square" lIns="0" tIns="0" rIns="0" bIns="0" rtlCol="0" anchor="t"/>
          <a:lstStyle/>
          <a:p>
            <a:pPr algn="l">
              <a:lnSpc>
                <a:spcPts val="3000"/>
              </a:lnSpc>
              <a:buSzPct val="100000"/>
            </a:pPr>
            <a:r>
              <a:rPr lang="en-US" sz="1850">
                <a:solidFill>
                  <a:schemeClr val="bg1"/>
                </a:solidFill>
                <a:latin typeface="Overpass" pitchFamily="34" charset="0"/>
                <a:ea typeface="Overpass" pitchFamily="34" charset="-122"/>
                <a:cs typeface="Overpass" pitchFamily="34" charset="-120"/>
              </a:rPr>
              <a:t>4. Feature Scaling</a:t>
            </a:r>
            <a:endParaRPr lang="vi-VN" sz="1850">
              <a:solidFill>
                <a:schemeClr val="bg1"/>
              </a:solidFill>
              <a:latin typeface="Overpass" pitchFamily="34" charset="0"/>
              <a:ea typeface="Overpass" pitchFamily="34" charset="-122"/>
              <a:cs typeface="Overpass" pitchFamily="34" charset="-120"/>
            </a:endParaRPr>
          </a:p>
          <a:p>
            <a:pPr marL="342900" indent="-342900" algn="l">
              <a:lnSpc>
                <a:spcPts val="3000"/>
              </a:lnSpc>
              <a:buSzPct val="100000"/>
              <a:buChar char="•"/>
            </a:pPr>
            <a:r>
              <a:rPr lang="en-US" sz="1850">
                <a:solidFill>
                  <a:schemeClr val="bg1"/>
                </a:solidFill>
                <a:latin typeface="Overpass" pitchFamily="34" charset="0"/>
                <a:ea typeface="Overpass" pitchFamily="34" charset="-122"/>
                <a:cs typeface="Overpass" pitchFamily="34" charset="-120"/>
              </a:rPr>
              <a:t>Dùng StandardScaler</a:t>
            </a:r>
            <a:endParaRPr lang="vi-VN" sz="1850">
              <a:solidFill>
                <a:schemeClr val="bg1"/>
              </a:solidFill>
              <a:latin typeface="Overpass" pitchFamily="34" charset="0"/>
              <a:ea typeface="Overpass" pitchFamily="34" charset="-122"/>
              <a:cs typeface="Overpass" pitchFamily="34" charset="-120"/>
            </a:endParaRPr>
          </a:p>
          <a:p>
            <a:pPr marL="342900" indent="-342900" algn="l">
              <a:lnSpc>
                <a:spcPts val="3000"/>
              </a:lnSpc>
              <a:buSzPct val="100000"/>
              <a:buChar char="•"/>
            </a:pPr>
            <a:r>
              <a:rPr lang="en-US" sz="1850">
                <a:solidFill>
                  <a:schemeClr val="bg1"/>
                </a:solidFill>
                <a:latin typeface="Overpass" pitchFamily="34" charset="0"/>
                <a:ea typeface="Overpass" pitchFamily="34" charset="-122"/>
                <a:cs typeface="Overpass" pitchFamily="34" charset="-120"/>
              </a:rPr>
              <a:t>Chuẩn hóa: mean = 0, std = 1</a:t>
            </a:r>
            <a:endParaRPr lang="en-US" sz="1850" dirty="0">
              <a:solidFill>
                <a:schemeClr val="bg1"/>
              </a:solidFill>
            </a:endParaRPr>
          </a:p>
        </p:txBody>
      </p:sp>
    </p:spTree>
    <p:extLst>
      <p:ext uri="{BB962C8B-B14F-4D97-AF65-F5344CB8AC3E}">
        <p14:creationId xmlns:p14="http://schemas.microsoft.com/office/powerpoint/2010/main" val="3197865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1102757"/>
            <a:ext cx="5632490"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Thuật Toán KNN</a:t>
            </a:r>
            <a:endParaRPr lang="en-US" sz="4400" dirty="0"/>
          </a:p>
        </p:txBody>
      </p:sp>
      <p:sp>
        <p:nvSpPr>
          <p:cNvPr id="3" name="Text 1"/>
          <p:cNvSpPr/>
          <p:nvPr/>
        </p:nvSpPr>
        <p:spPr>
          <a:xfrm>
            <a:off x="837724" y="2165747"/>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KNN hoạt động dựa trên nguyên lý </a:t>
            </a:r>
            <a:r>
              <a:rPr lang="en-US" sz="1850" b="1" dirty="0">
                <a:solidFill>
                  <a:srgbClr val="E5E0DF"/>
                </a:solidFill>
                <a:latin typeface="Overpass" pitchFamily="34" charset="0"/>
                <a:ea typeface="Overpass" pitchFamily="34" charset="-122"/>
                <a:cs typeface="Overpass" pitchFamily="34" charset="-120"/>
              </a:rPr>
              <a:t>hàng xóm gần nhất</a:t>
            </a:r>
            <a:r>
              <a:rPr lang="en-US" sz="1850" dirty="0">
                <a:solidFill>
                  <a:srgbClr val="E5E0DF"/>
                </a:solidFill>
                <a:latin typeface="Overpass" pitchFamily="34" charset="0"/>
                <a:ea typeface="Overpass" pitchFamily="34" charset="-122"/>
                <a:cs typeface="Overpass" pitchFamily="34" charset="-120"/>
              </a:rPr>
              <a:t>. Các bước thực hiện:</a:t>
            </a:r>
            <a:endParaRPr lang="en-US" sz="1850" dirty="0"/>
          </a:p>
        </p:txBody>
      </p:sp>
      <p:pic>
        <p:nvPicPr>
          <p:cNvPr id="4" name="Image 0" descr="preencoded.png"/>
          <p:cNvPicPr>
            <a:picLocks noChangeAspect="1"/>
          </p:cNvPicPr>
          <p:nvPr/>
        </p:nvPicPr>
        <p:blipFill>
          <a:blip r:embed="rId3"/>
          <a:stretch>
            <a:fillRect/>
          </a:stretch>
        </p:blipFill>
        <p:spPr>
          <a:xfrm>
            <a:off x="837724" y="2817971"/>
            <a:ext cx="1196816" cy="1436251"/>
          </a:xfrm>
          <a:prstGeom prst="rect">
            <a:avLst/>
          </a:prstGeom>
        </p:spPr>
      </p:pic>
      <p:sp>
        <p:nvSpPr>
          <p:cNvPr id="5" name="Text 2"/>
          <p:cNvSpPr/>
          <p:nvPr/>
        </p:nvSpPr>
        <p:spPr>
          <a:xfrm>
            <a:off x="2273856" y="3057287"/>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Tính khoảng cách</a:t>
            </a:r>
            <a:endParaRPr lang="en-US" sz="2200" dirty="0"/>
          </a:p>
        </p:txBody>
      </p:sp>
      <p:sp>
        <p:nvSpPr>
          <p:cNvPr id="6" name="Text 3"/>
          <p:cNvSpPr/>
          <p:nvPr/>
        </p:nvSpPr>
        <p:spPr>
          <a:xfrm>
            <a:off x="2273856" y="3552825"/>
            <a:ext cx="11518821" cy="38302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Từ điểm mới đến tất cả điểm trong tập huấn luyện</a:t>
            </a:r>
            <a:endParaRPr lang="en-US" sz="1850" dirty="0"/>
          </a:p>
        </p:txBody>
      </p:sp>
      <p:pic>
        <p:nvPicPr>
          <p:cNvPr id="7" name="Image 1" descr="preencoded.png"/>
          <p:cNvPicPr>
            <a:picLocks noChangeAspect="1"/>
          </p:cNvPicPr>
          <p:nvPr/>
        </p:nvPicPr>
        <p:blipFill>
          <a:blip r:embed="rId4"/>
          <a:stretch>
            <a:fillRect/>
          </a:stretch>
        </p:blipFill>
        <p:spPr>
          <a:xfrm>
            <a:off x="837724" y="4254222"/>
            <a:ext cx="1196816" cy="1436251"/>
          </a:xfrm>
          <a:prstGeom prst="rect">
            <a:avLst/>
          </a:prstGeom>
        </p:spPr>
      </p:pic>
      <p:sp>
        <p:nvSpPr>
          <p:cNvPr id="8" name="Text 4"/>
          <p:cNvSpPr/>
          <p:nvPr/>
        </p:nvSpPr>
        <p:spPr>
          <a:xfrm>
            <a:off x="2273856" y="4493538"/>
            <a:ext cx="2884408"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Chọn K điểm gần nhất</a:t>
            </a:r>
            <a:endParaRPr lang="en-US" sz="2200" dirty="0"/>
          </a:p>
        </p:txBody>
      </p:sp>
      <p:sp>
        <p:nvSpPr>
          <p:cNvPr id="9" name="Text 5"/>
          <p:cNvSpPr/>
          <p:nvPr/>
        </p:nvSpPr>
        <p:spPr>
          <a:xfrm>
            <a:off x="2273856" y="4989076"/>
            <a:ext cx="11518821" cy="38302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Xác định các láng giềng gần nhất</a:t>
            </a:r>
            <a:endParaRPr lang="en-US" sz="1850" dirty="0"/>
          </a:p>
        </p:txBody>
      </p:sp>
      <p:pic>
        <p:nvPicPr>
          <p:cNvPr id="10" name="Image 2" descr="preencoded.png"/>
          <p:cNvPicPr>
            <a:picLocks noChangeAspect="1"/>
          </p:cNvPicPr>
          <p:nvPr/>
        </p:nvPicPr>
        <p:blipFill>
          <a:blip r:embed="rId5"/>
          <a:stretch>
            <a:fillRect/>
          </a:stretch>
        </p:blipFill>
        <p:spPr>
          <a:xfrm>
            <a:off x="837724" y="5690473"/>
            <a:ext cx="1196816" cy="1436251"/>
          </a:xfrm>
          <a:prstGeom prst="rect">
            <a:avLst/>
          </a:prstGeom>
        </p:spPr>
      </p:pic>
      <p:sp>
        <p:nvSpPr>
          <p:cNvPr id="11" name="Text 6"/>
          <p:cNvSpPr/>
          <p:nvPr/>
        </p:nvSpPr>
        <p:spPr>
          <a:xfrm>
            <a:off x="2273856" y="5929789"/>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Lấy nhãn theo đa số</a:t>
            </a:r>
            <a:endParaRPr lang="en-US" sz="2200" dirty="0"/>
          </a:p>
        </p:txBody>
      </p:sp>
      <p:sp>
        <p:nvSpPr>
          <p:cNvPr id="12" name="Text 7"/>
          <p:cNvSpPr/>
          <p:nvPr/>
        </p:nvSpPr>
        <p:spPr>
          <a:xfrm>
            <a:off x="2273856" y="6425327"/>
            <a:ext cx="11518821" cy="38302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Phiếu bầu của K điểm lân cận quyết định lớp</a:t>
            </a:r>
            <a:endParaRPr lang="en-US" sz="1850" dirty="0"/>
          </a:p>
        </p:txBody>
      </p:sp>
      <p:pic>
        <p:nvPicPr>
          <p:cNvPr id="13" name="Picture 12">
            <a:extLst>
              <a:ext uri="{FF2B5EF4-FFF2-40B4-BE49-F238E27FC236}">
                <a16:creationId xmlns:a16="http://schemas.microsoft.com/office/drawing/2014/main" id="{9AE90B5B-F8D5-FEC1-D30A-12D715080E60}"/>
              </a:ext>
            </a:extLst>
          </p:cNvPr>
          <p:cNvPicPr>
            <a:picLocks noChangeAspect="1"/>
          </p:cNvPicPr>
          <p:nvPr/>
        </p:nvPicPr>
        <p:blipFill>
          <a:blip r:embed="rId6"/>
          <a:stretch>
            <a:fillRect/>
          </a:stretch>
        </p:blipFill>
        <p:spPr>
          <a:xfrm>
            <a:off x="12551928" y="7716644"/>
            <a:ext cx="2078472" cy="4450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852249"/>
            <a:ext cx="9055179"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Lựa Chọn K và Chuẩn Hóa Dữ Liệu</a:t>
            </a:r>
            <a:endParaRPr lang="en-US" sz="4400" dirty="0"/>
          </a:p>
        </p:txBody>
      </p:sp>
      <p:sp>
        <p:nvSpPr>
          <p:cNvPr id="4" name="Text 1"/>
          <p:cNvSpPr/>
          <p:nvPr/>
        </p:nvSpPr>
        <p:spPr>
          <a:xfrm>
            <a:off x="9051294" y="1855698"/>
            <a:ext cx="2816185" cy="351949"/>
          </a:xfrm>
          <a:prstGeom prst="rect">
            <a:avLst/>
          </a:prstGeom>
          <a:noFill/>
          <a:ln/>
        </p:spPr>
        <p:txBody>
          <a:bodyPr wrap="none" lIns="0" tIns="0" rIns="0" bIns="0" rtlCol="0" anchor="t"/>
          <a:lstStyle/>
          <a:p>
            <a:pPr marL="0" indent="0" algn="l">
              <a:lnSpc>
                <a:spcPts val="2750"/>
              </a:lnSpc>
              <a:buNone/>
            </a:pPr>
            <a:r>
              <a:rPr lang="en-US" sz="2200" b="1">
                <a:solidFill>
                  <a:srgbClr val="FFFFFF"/>
                </a:solidFill>
                <a:latin typeface="Overpass Bold" pitchFamily="34" charset="0"/>
                <a:ea typeface="Overpass Bold" pitchFamily="34" charset="-122"/>
                <a:cs typeface="Overpass Bold" pitchFamily="34" charset="-120"/>
              </a:rPr>
              <a:t>Chọn</a:t>
            </a:r>
            <a:r>
              <a:rPr lang="vi-VN" sz="2200" b="1">
                <a:solidFill>
                  <a:srgbClr val="FFFFFF"/>
                </a:solidFill>
                <a:latin typeface="Overpass Bold" pitchFamily="34" charset="0"/>
                <a:ea typeface="Overpass Bold" pitchFamily="34" charset="-122"/>
                <a:cs typeface="Overpass Bold" pitchFamily="34" charset="-120"/>
              </a:rPr>
              <a:t> tối ưu là</a:t>
            </a:r>
            <a:r>
              <a:rPr lang="en-US" sz="2200" b="1">
                <a:solidFill>
                  <a:srgbClr val="FFFFFF"/>
                </a:solidFill>
                <a:latin typeface="Overpass Bold" pitchFamily="34" charset="0"/>
                <a:ea typeface="Overpass Bold" pitchFamily="34" charset="-122"/>
                <a:cs typeface="Overpass Bold" pitchFamily="34" charset="-120"/>
              </a:rPr>
              <a:t> </a:t>
            </a:r>
            <a:r>
              <a:rPr lang="en-US" sz="2200" b="1" dirty="0">
                <a:solidFill>
                  <a:srgbClr val="FFFFFF"/>
                </a:solidFill>
                <a:latin typeface="Overpass Bold" pitchFamily="34" charset="0"/>
                <a:ea typeface="Overpass Bold" pitchFamily="34" charset="-122"/>
                <a:cs typeface="Overpass Bold" pitchFamily="34" charset="-120"/>
              </a:rPr>
              <a:t>K </a:t>
            </a:r>
            <a:r>
              <a:rPr lang="en-US" sz="2200" b="1">
                <a:solidFill>
                  <a:srgbClr val="FFFFFF"/>
                </a:solidFill>
                <a:latin typeface="Overpass Bold" pitchFamily="34" charset="0"/>
                <a:ea typeface="Overpass Bold" pitchFamily="34" charset="-122"/>
                <a:cs typeface="Overpass Bold" pitchFamily="34" charset="-120"/>
              </a:rPr>
              <a:t>= 5</a:t>
            </a:r>
            <a:endParaRPr lang="en-US" sz="2200" dirty="0"/>
          </a:p>
        </p:txBody>
      </p:sp>
      <p:pic>
        <p:nvPicPr>
          <p:cNvPr id="18" name="Image 1" descr="preencoded.png"/>
          <p:cNvPicPr>
            <a:picLocks noChangeAspect="1"/>
          </p:cNvPicPr>
          <p:nvPr/>
        </p:nvPicPr>
        <p:blipFill>
          <a:blip r:embed="rId3"/>
          <a:stretch>
            <a:fillRect/>
          </a:stretch>
        </p:blipFill>
        <p:spPr>
          <a:xfrm>
            <a:off x="6124307" y="5665946"/>
            <a:ext cx="299204" cy="239316"/>
          </a:xfrm>
          <a:prstGeom prst="rect">
            <a:avLst/>
          </a:prstGeom>
        </p:spPr>
      </p:pic>
      <p:pic>
        <p:nvPicPr>
          <p:cNvPr id="20" name="Picture 19">
            <a:extLst>
              <a:ext uri="{FF2B5EF4-FFF2-40B4-BE49-F238E27FC236}">
                <a16:creationId xmlns:a16="http://schemas.microsoft.com/office/drawing/2014/main" id="{B3451D60-9024-B2A0-039E-BC9530B29B98}"/>
              </a:ext>
            </a:extLst>
          </p:cNvPr>
          <p:cNvPicPr>
            <a:picLocks noChangeAspect="1"/>
          </p:cNvPicPr>
          <p:nvPr/>
        </p:nvPicPr>
        <p:blipFill>
          <a:blip r:embed="rId4"/>
          <a:stretch>
            <a:fillRect/>
          </a:stretch>
        </p:blipFill>
        <p:spPr>
          <a:xfrm>
            <a:off x="12551928" y="7716644"/>
            <a:ext cx="2078472" cy="445010"/>
          </a:xfrm>
          <a:prstGeom prst="rect">
            <a:avLst/>
          </a:prstGeom>
        </p:spPr>
      </p:pic>
      <p:pic>
        <p:nvPicPr>
          <p:cNvPr id="22" name="Picture 21">
            <a:extLst>
              <a:ext uri="{FF2B5EF4-FFF2-40B4-BE49-F238E27FC236}">
                <a16:creationId xmlns:a16="http://schemas.microsoft.com/office/drawing/2014/main" id="{13DFC049-7DE9-0311-6D58-2CCE69F319F2}"/>
              </a:ext>
            </a:extLst>
          </p:cNvPr>
          <p:cNvPicPr>
            <a:picLocks noChangeAspect="1"/>
          </p:cNvPicPr>
          <p:nvPr/>
        </p:nvPicPr>
        <p:blipFill>
          <a:blip r:embed="rId5"/>
          <a:stretch>
            <a:fillRect/>
          </a:stretch>
        </p:blipFill>
        <p:spPr>
          <a:xfrm>
            <a:off x="351455" y="1855698"/>
            <a:ext cx="8497355" cy="52594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908215"/>
            <a:ext cx="5632490"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Kiến Trúc Hệ Thống</a:t>
            </a:r>
            <a:endParaRPr lang="en-US" sz="4400" dirty="0"/>
          </a:p>
        </p:txBody>
      </p:sp>
      <p:sp>
        <p:nvSpPr>
          <p:cNvPr id="3" name="Text 1"/>
          <p:cNvSpPr/>
          <p:nvPr/>
        </p:nvSpPr>
        <p:spPr>
          <a:xfrm>
            <a:off x="837724" y="3090982"/>
            <a:ext cx="12954952" cy="1149072"/>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Hệ thống được xây dựng theo mô hình </a:t>
            </a:r>
            <a:r>
              <a:rPr lang="en-US" sz="1850" b="1" dirty="0">
                <a:solidFill>
                  <a:srgbClr val="E5E0DF"/>
                </a:solidFill>
                <a:latin typeface="Overpass" pitchFamily="34" charset="0"/>
                <a:ea typeface="Overpass" pitchFamily="34" charset="-122"/>
                <a:cs typeface="Overpass" pitchFamily="34" charset="-120"/>
              </a:rPr>
              <a:t>client-server</a:t>
            </a:r>
            <a:r>
              <a:rPr lang="en-US" sz="1850" dirty="0">
                <a:solidFill>
                  <a:srgbClr val="E5E0DF"/>
                </a:solidFill>
                <a:latin typeface="Overpass" pitchFamily="34" charset="0"/>
                <a:ea typeface="Overpass" pitchFamily="34" charset="-122"/>
                <a:cs typeface="Overpass" pitchFamily="34" charset="-120"/>
              </a:rPr>
              <a:t>. Frontend và Backend giao tiếp với nhau thông qua API sử dụng định dạng JSON. Người dùng nhập dữ liệu từ giao diện, dữ liệu được gửi đến Backend, xử lý qua mô hình KNN và trả kết quả về để hiển thị.</a:t>
            </a:r>
            <a:endParaRPr lang="en-US" sz="1850" dirty="0"/>
          </a:p>
        </p:txBody>
      </p:sp>
      <p:sp>
        <p:nvSpPr>
          <p:cNvPr id="4" name="Text 2"/>
          <p:cNvSpPr/>
          <p:nvPr/>
        </p:nvSpPr>
        <p:spPr>
          <a:xfrm>
            <a:off x="837724" y="4748570"/>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Overpass Bold" pitchFamily="34" charset="0"/>
                <a:ea typeface="Overpass Bold" pitchFamily="34" charset="-122"/>
                <a:cs typeface="Overpass Bold" pitchFamily="34" charset="-120"/>
              </a:rPr>
              <a:t>Frontend — React</a:t>
            </a:r>
            <a:endParaRPr lang="en-US" sz="2200" dirty="0"/>
          </a:p>
        </p:txBody>
      </p:sp>
      <p:sp>
        <p:nvSpPr>
          <p:cNvPr id="5" name="Text 3"/>
          <p:cNvSpPr/>
          <p:nvPr/>
        </p:nvSpPr>
        <p:spPr>
          <a:xfrm>
            <a:off x="837724" y="5339834"/>
            <a:ext cx="6185535" cy="383024"/>
          </a:xfrm>
          <a:prstGeom prst="rect">
            <a:avLst/>
          </a:prstGeom>
          <a:noFill/>
          <a:ln/>
        </p:spPr>
        <p:txBody>
          <a:bodyPr wrap="non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Hiển thị giao diện và nhận dữ liệu từ người dùng</a:t>
            </a:r>
            <a:endParaRPr lang="en-US" sz="1850" dirty="0"/>
          </a:p>
        </p:txBody>
      </p:sp>
      <p:sp>
        <p:nvSpPr>
          <p:cNvPr id="6" name="Text 4"/>
          <p:cNvSpPr/>
          <p:nvPr/>
        </p:nvSpPr>
        <p:spPr>
          <a:xfrm>
            <a:off x="7614761" y="4748570"/>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Overpass Bold" pitchFamily="34" charset="0"/>
                <a:ea typeface="Overpass Bold" pitchFamily="34" charset="-122"/>
                <a:cs typeface="Overpass Bold" pitchFamily="34" charset="-120"/>
              </a:rPr>
              <a:t>Backend — Flask</a:t>
            </a:r>
            <a:endParaRPr lang="en-US" sz="2200" dirty="0"/>
          </a:p>
        </p:txBody>
      </p:sp>
      <p:sp>
        <p:nvSpPr>
          <p:cNvPr id="7" name="Text 5"/>
          <p:cNvSpPr/>
          <p:nvPr/>
        </p:nvSpPr>
        <p:spPr>
          <a:xfrm>
            <a:off x="7614761" y="5339834"/>
            <a:ext cx="6185535" cy="766048"/>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Xử lý yêu cầu và thực hiện dự đoán bằng mô hình học máy</a:t>
            </a:r>
            <a:endParaRPr lang="en-US" sz="1850" dirty="0"/>
          </a:p>
        </p:txBody>
      </p:sp>
      <p:pic>
        <p:nvPicPr>
          <p:cNvPr id="8" name="Picture 7">
            <a:extLst>
              <a:ext uri="{FF2B5EF4-FFF2-40B4-BE49-F238E27FC236}">
                <a16:creationId xmlns:a16="http://schemas.microsoft.com/office/drawing/2014/main" id="{A95CA9A9-A913-78A0-1C06-CC304403727F}"/>
              </a:ext>
            </a:extLst>
          </p:cNvPr>
          <p:cNvPicPr>
            <a:picLocks noChangeAspect="1"/>
          </p:cNvPicPr>
          <p:nvPr/>
        </p:nvPicPr>
        <p:blipFill>
          <a:blip r:embed="rId3"/>
          <a:stretch>
            <a:fillRect/>
          </a:stretch>
        </p:blipFill>
        <p:spPr>
          <a:xfrm>
            <a:off x="12551928" y="7716644"/>
            <a:ext cx="2078472" cy="4450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7" name="Shape 2">
            <a:extLst>
              <a:ext uri="{FF2B5EF4-FFF2-40B4-BE49-F238E27FC236}">
                <a16:creationId xmlns:a16="http://schemas.microsoft.com/office/drawing/2014/main" id="{6A1C9051-6DC0-19A7-F558-7785FE6C02CD}"/>
              </a:ext>
            </a:extLst>
          </p:cNvPr>
          <p:cNvSpPr/>
          <p:nvPr/>
        </p:nvSpPr>
        <p:spPr>
          <a:xfrm>
            <a:off x="7403619" y="2417943"/>
            <a:ext cx="6327815" cy="2316676"/>
          </a:xfrm>
          <a:prstGeom prst="roundRect">
            <a:avLst>
              <a:gd name="adj" fmla="val 6417"/>
            </a:avLst>
          </a:prstGeom>
          <a:solidFill>
            <a:srgbClr val="252222">
              <a:alpha val="95000"/>
            </a:srgbClr>
          </a:solidFill>
          <a:ln w="30480">
            <a:solidFill>
              <a:srgbClr val="971B55"/>
            </a:solidFill>
            <a:prstDash val="solid"/>
          </a:ln>
        </p:spPr>
        <p:txBody>
          <a:bodyPr/>
          <a:lstStyle/>
          <a:p>
            <a:endParaRPr lang="en-US"/>
          </a:p>
        </p:txBody>
      </p:sp>
      <p:sp>
        <p:nvSpPr>
          <p:cNvPr id="19" name="Shape 2">
            <a:extLst>
              <a:ext uri="{FF2B5EF4-FFF2-40B4-BE49-F238E27FC236}">
                <a16:creationId xmlns:a16="http://schemas.microsoft.com/office/drawing/2014/main" id="{1F38F775-2CFA-6D91-2015-DD1795B38374}"/>
              </a:ext>
            </a:extLst>
          </p:cNvPr>
          <p:cNvSpPr/>
          <p:nvPr/>
        </p:nvSpPr>
        <p:spPr>
          <a:xfrm>
            <a:off x="7405416" y="5625609"/>
            <a:ext cx="6446587" cy="2362796"/>
          </a:xfrm>
          <a:prstGeom prst="roundRect">
            <a:avLst>
              <a:gd name="adj" fmla="val 6417"/>
            </a:avLst>
          </a:prstGeom>
          <a:solidFill>
            <a:srgbClr val="252222">
              <a:alpha val="95000"/>
            </a:srgbClr>
          </a:solidFill>
          <a:ln w="30480">
            <a:solidFill>
              <a:srgbClr val="971B55"/>
            </a:solidFill>
            <a:prstDash val="solid"/>
          </a:ln>
        </p:spPr>
        <p:txBody>
          <a:bodyPr/>
          <a:lstStyle/>
          <a:p>
            <a:endParaRPr lang="en-US"/>
          </a:p>
        </p:txBody>
      </p:sp>
      <p:sp>
        <p:nvSpPr>
          <p:cNvPr id="18" name="Shape 2">
            <a:extLst>
              <a:ext uri="{FF2B5EF4-FFF2-40B4-BE49-F238E27FC236}">
                <a16:creationId xmlns:a16="http://schemas.microsoft.com/office/drawing/2014/main" id="{EC2AA696-5420-CEAD-6E41-B8BCA3C14D48}"/>
              </a:ext>
            </a:extLst>
          </p:cNvPr>
          <p:cNvSpPr/>
          <p:nvPr/>
        </p:nvSpPr>
        <p:spPr>
          <a:xfrm>
            <a:off x="718952" y="5615821"/>
            <a:ext cx="6446587" cy="2362796"/>
          </a:xfrm>
          <a:prstGeom prst="roundRect">
            <a:avLst>
              <a:gd name="adj" fmla="val 6417"/>
            </a:avLst>
          </a:prstGeom>
          <a:solidFill>
            <a:srgbClr val="252222">
              <a:alpha val="95000"/>
            </a:srgbClr>
          </a:solidFill>
          <a:ln w="30480">
            <a:solidFill>
              <a:srgbClr val="971B55"/>
            </a:solidFill>
            <a:prstDash val="solid"/>
          </a:ln>
        </p:spPr>
        <p:txBody>
          <a:bodyPr/>
          <a:lstStyle/>
          <a:p>
            <a:endParaRPr lang="en-US"/>
          </a:p>
        </p:txBody>
      </p:sp>
      <p:sp>
        <p:nvSpPr>
          <p:cNvPr id="16" name="Shape 2">
            <a:extLst>
              <a:ext uri="{FF2B5EF4-FFF2-40B4-BE49-F238E27FC236}">
                <a16:creationId xmlns:a16="http://schemas.microsoft.com/office/drawing/2014/main" id="{D2BDAD4B-F694-0253-D595-53EF0F770591}"/>
              </a:ext>
            </a:extLst>
          </p:cNvPr>
          <p:cNvSpPr/>
          <p:nvPr/>
        </p:nvSpPr>
        <p:spPr>
          <a:xfrm>
            <a:off x="692757" y="2412047"/>
            <a:ext cx="6446587" cy="2362796"/>
          </a:xfrm>
          <a:prstGeom prst="roundRect">
            <a:avLst>
              <a:gd name="adj" fmla="val 6417"/>
            </a:avLst>
          </a:prstGeom>
          <a:solidFill>
            <a:srgbClr val="252222">
              <a:alpha val="95000"/>
            </a:srgbClr>
          </a:solidFill>
          <a:ln w="30480">
            <a:solidFill>
              <a:srgbClr val="971B55"/>
            </a:solidFill>
            <a:prstDash val="solid"/>
          </a:ln>
        </p:spPr>
        <p:txBody>
          <a:bodyPr/>
          <a:lstStyle/>
          <a:p>
            <a:endParaRPr lang="en-US"/>
          </a:p>
        </p:txBody>
      </p:sp>
      <p:sp>
        <p:nvSpPr>
          <p:cNvPr id="2" name="Text 0"/>
          <p:cNvSpPr/>
          <p:nvPr/>
        </p:nvSpPr>
        <p:spPr>
          <a:xfrm>
            <a:off x="837724" y="669965"/>
            <a:ext cx="5632490"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Hiện Thực Hệ Thống</a:t>
            </a:r>
            <a:endParaRPr lang="en-US" sz="4400" dirty="0"/>
          </a:p>
        </p:txBody>
      </p:sp>
      <p:sp>
        <p:nvSpPr>
          <p:cNvPr id="4" name="Text 1"/>
          <p:cNvSpPr/>
          <p:nvPr/>
        </p:nvSpPr>
        <p:spPr>
          <a:xfrm>
            <a:off x="837724" y="2630686"/>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Backend Python</a:t>
            </a:r>
            <a:endParaRPr lang="en-US" sz="2200" dirty="0"/>
          </a:p>
        </p:txBody>
      </p:sp>
      <p:sp>
        <p:nvSpPr>
          <p:cNvPr id="5" name="Text 2"/>
          <p:cNvSpPr/>
          <p:nvPr/>
        </p:nvSpPr>
        <p:spPr>
          <a:xfrm>
            <a:off x="837724" y="3126224"/>
            <a:ext cx="6327815" cy="1532096"/>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Xây dựng bằng Python và thư viện </a:t>
            </a:r>
            <a:r>
              <a:rPr lang="en-US" sz="1850" b="1" dirty="0">
                <a:solidFill>
                  <a:srgbClr val="E5E0DF"/>
                </a:solidFill>
                <a:latin typeface="Overpass" pitchFamily="34" charset="0"/>
                <a:ea typeface="Overpass" pitchFamily="34" charset="-122"/>
                <a:cs typeface="Overpass" pitchFamily="34" charset="-120"/>
              </a:rPr>
              <a:t>scikit-learn</a:t>
            </a:r>
            <a:r>
              <a:rPr lang="en-US" sz="1850" dirty="0">
                <a:solidFill>
                  <a:srgbClr val="E5E0DF"/>
                </a:solidFill>
                <a:latin typeface="Overpass" pitchFamily="34" charset="0"/>
                <a:ea typeface="Overpass" pitchFamily="34" charset="-122"/>
                <a:cs typeface="Overpass" pitchFamily="34" charset="-120"/>
              </a:rPr>
              <a:t> để huấn luyện mô hình KNN. Dữ liệu được chuẩn hóa bằng </a:t>
            </a:r>
            <a:r>
              <a:rPr lang="en-US" sz="1850" b="1" dirty="0">
                <a:solidFill>
                  <a:srgbClr val="E5E0DF"/>
                </a:solidFill>
                <a:latin typeface="Overpass" pitchFamily="34" charset="0"/>
                <a:ea typeface="Overpass" pitchFamily="34" charset="-122"/>
                <a:cs typeface="Overpass" pitchFamily="34" charset="-120"/>
              </a:rPr>
              <a:t>StandardScaler</a:t>
            </a:r>
            <a:r>
              <a:rPr lang="en-US" sz="1850" dirty="0">
                <a:solidFill>
                  <a:srgbClr val="E5E0DF"/>
                </a:solidFill>
                <a:latin typeface="Overpass" pitchFamily="34" charset="0"/>
                <a:ea typeface="Overpass" pitchFamily="34" charset="-122"/>
                <a:cs typeface="Overpass" pitchFamily="34" charset="-120"/>
              </a:rPr>
              <a:t> để đảm bảo độ chính xác khi tính khoảng cách.</a:t>
            </a:r>
            <a:endParaRPr lang="en-US" sz="1850" dirty="0"/>
          </a:p>
        </p:txBody>
      </p:sp>
      <p:sp>
        <p:nvSpPr>
          <p:cNvPr id="7" name="Text 3"/>
          <p:cNvSpPr/>
          <p:nvPr/>
        </p:nvSpPr>
        <p:spPr>
          <a:xfrm>
            <a:off x="7464743" y="2630686"/>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Flask API</a:t>
            </a:r>
            <a:endParaRPr lang="en-US" sz="2200" dirty="0"/>
          </a:p>
        </p:txBody>
      </p:sp>
      <p:sp>
        <p:nvSpPr>
          <p:cNvPr id="8" name="Text 4"/>
          <p:cNvSpPr/>
          <p:nvPr/>
        </p:nvSpPr>
        <p:spPr>
          <a:xfrm>
            <a:off x="7464743" y="3126224"/>
            <a:ext cx="6327934" cy="766048"/>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Flask được sử dụng để xây dựng API, nhận dữ liệu đầu vào và trả về kết quả dự đoán cùng </a:t>
            </a:r>
            <a:r>
              <a:rPr lang="en-US" sz="1850" b="1" dirty="0">
                <a:solidFill>
                  <a:srgbClr val="E5E0DF"/>
                </a:solidFill>
                <a:latin typeface="Overpass" pitchFamily="34" charset="0"/>
                <a:ea typeface="Overpass" pitchFamily="34" charset="-122"/>
                <a:cs typeface="Overpass" pitchFamily="34" charset="-120"/>
              </a:rPr>
              <a:t>độ tin cậy</a:t>
            </a:r>
            <a:r>
              <a:rPr lang="en-US" sz="1850" dirty="0">
                <a:solidFill>
                  <a:srgbClr val="E5E0DF"/>
                </a:solidFill>
                <a:latin typeface="Overpass" pitchFamily="34" charset="0"/>
                <a:ea typeface="Overpass" pitchFamily="34" charset="-122"/>
                <a:cs typeface="Overpass" pitchFamily="34" charset="-120"/>
              </a:rPr>
              <a:t>.</a:t>
            </a:r>
            <a:endParaRPr lang="en-US" sz="1850" dirty="0"/>
          </a:p>
        </p:txBody>
      </p:sp>
      <p:sp>
        <p:nvSpPr>
          <p:cNvPr id="10" name="Text 5"/>
          <p:cNvSpPr/>
          <p:nvPr/>
        </p:nvSpPr>
        <p:spPr>
          <a:xfrm>
            <a:off x="837724" y="5915025"/>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Frontend React</a:t>
            </a:r>
            <a:endParaRPr lang="en-US" sz="2200" dirty="0"/>
          </a:p>
        </p:txBody>
      </p:sp>
      <p:sp>
        <p:nvSpPr>
          <p:cNvPr id="11" name="Text 6"/>
          <p:cNvSpPr/>
          <p:nvPr/>
        </p:nvSpPr>
        <p:spPr>
          <a:xfrm>
            <a:off x="837724" y="6410563"/>
            <a:ext cx="6327815" cy="1149072"/>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Xây dựng bằng React, sử dụng </a:t>
            </a:r>
            <a:r>
              <a:rPr lang="en-US" sz="1850" b="1" dirty="0">
                <a:solidFill>
                  <a:srgbClr val="E5E0DF"/>
                </a:solidFill>
                <a:latin typeface="Overpass" pitchFamily="34" charset="0"/>
                <a:ea typeface="Overpass" pitchFamily="34" charset="-122"/>
                <a:cs typeface="Overpass" pitchFamily="34" charset="-120"/>
              </a:rPr>
              <a:t>useState</a:t>
            </a:r>
            <a:r>
              <a:rPr lang="en-US" sz="1850" dirty="0">
                <a:solidFill>
                  <a:srgbClr val="E5E0DF"/>
                </a:solidFill>
                <a:latin typeface="Overpass" pitchFamily="34" charset="0"/>
                <a:ea typeface="Overpass" pitchFamily="34" charset="-122"/>
                <a:cs typeface="Overpass" pitchFamily="34" charset="-120"/>
              </a:rPr>
              <a:t> để quản lý dữ liệu người dùng nhập vào. Khi người dùng gửi dữ liệu, hệ thống gọi API và hiển thị kết quả ngay lập tức.</a:t>
            </a:r>
            <a:endParaRPr lang="en-US" sz="1850" dirty="0"/>
          </a:p>
        </p:txBody>
      </p:sp>
      <p:sp>
        <p:nvSpPr>
          <p:cNvPr id="13" name="Text 7"/>
          <p:cNvSpPr/>
          <p:nvPr/>
        </p:nvSpPr>
        <p:spPr>
          <a:xfrm>
            <a:off x="7464743" y="5915025"/>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E5E0DF"/>
                </a:solidFill>
                <a:latin typeface="Overpass Bold" pitchFamily="34" charset="0"/>
                <a:ea typeface="Overpass Bold" pitchFamily="34" charset="-122"/>
                <a:cs typeface="Overpass Bold" pitchFamily="34" charset="-120"/>
              </a:rPr>
              <a:t>Giao Diện Đa Thiết Bị</a:t>
            </a:r>
            <a:endParaRPr lang="en-US" sz="2200" dirty="0"/>
          </a:p>
        </p:txBody>
      </p:sp>
      <p:sp>
        <p:nvSpPr>
          <p:cNvPr id="14" name="Text 8"/>
          <p:cNvSpPr/>
          <p:nvPr/>
        </p:nvSpPr>
        <p:spPr>
          <a:xfrm>
            <a:off x="7464743" y="6410563"/>
            <a:ext cx="6327934" cy="766048"/>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Giao diện đơn giản, trực quan và có thể sử dụng trên </a:t>
            </a:r>
            <a:r>
              <a:rPr lang="en-US" sz="1850" b="1" dirty="0">
                <a:solidFill>
                  <a:srgbClr val="E5E0DF"/>
                </a:solidFill>
                <a:latin typeface="Overpass" pitchFamily="34" charset="0"/>
                <a:ea typeface="Overpass" pitchFamily="34" charset="-122"/>
                <a:cs typeface="Overpass" pitchFamily="34" charset="-120"/>
              </a:rPr>
              <a:t>nhiều thiết bị</a:t>
            </a:r>
            <a:r>
              <a:rPr lang="en-US" sz="1850" dirty="0">
                <a:solidFill>
                  <a:srgbClr val="E5E0DF"/>
                </a:solidFill>
                <a:latin typeface="Overpass" pitchFamily="34" charset="0"/>
                <a:ea typeface="Overpass" pitchFamily="34" charset="-122"/>
                <a:cs typeface="Overpass" pitchFamily="34" charset="-120"/>
              </a:rPr>
              <a:t>.</a:t>
            </a:r>
            <a:endParaRPr lang="en-US" sz="1850" dirty="0"/>
          </a:p>
        </p:txBody>
      </p:sp>
      <p:pic>
        <p:nvPicPr>
          <p:cNvPr id="15" name="Picture 14">
            <a:extLst>
              <a:ext uri="{FF2B5EF4-FFF2-40B4-BE49-F238E27FC236}">
                <a16:creationId xmlns:a16="http://schemas.microsoft.com/office/drawing/2014/main" id="{86FC3FBE-089F-3D0E-06F8-5B022379A564}"/>
              </a:ext>
            </a:extLst>
          </p:cNvPr>
          <p:cNvPicPr>
            <a:picLocks noChangeAspect="1"/>
          </p:cNvPicPr>
          <p:nvPr/>
        </p:nvPicPr>
        <p:blipFill>
          <a:blip r:embed="rId3"/>
          <a:stretch>
            <a:fillRect/>
          </a:stretch>
        </p:blipFill>
        <p:spPr>
          <a:xfrm>
            <a:off x="12551928" y="7716644"/>
            <a:ext cx="2078472" cy="44501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197</TotalTime>
  <Words>899</Words>
  <Application>Microsoft Office PowerPoint</Application>
  <PresentationFormat>Custom</PresentationFormat>
  <Paragraphs>106</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Overpass Bold</vt:lpstr>
      <vt:lpstr>Wingdings</vt:lpstr>
      <vt:lpstr>Overpass Light</vt:lpstr>
      <vt:lpstr>Overpass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QUÁCH THỊ THU</cp:lastModifiedBy>
  <cp:revision>3</cp:revision>
  <dcterms:created xsi:type="dcterms:W3CDTF">2026-04-29T14:07:14Z</dcterms:created>
  <dcterms:modified xsi:type="dcterms:W3CDTF">2026-04-29T17:25:05Z</dcterms:modified>
</cp:coreProperties>
</file>